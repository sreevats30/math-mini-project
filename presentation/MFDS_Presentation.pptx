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4" d="100"/>
          <a:sy n="64" d="100"/>
        </p:scale>
        <p:origin x="95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3114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project asks a simple question: can a computer group documents by what they are about, rather than by the exact words they use?</a:t>
            </a:r>
          </a:p>
          <a:p>
            <a:r>
              <a:t>The answer is Latent Semantic Analysis. It is one idea from linear algebra: write the documents as a matrix A and take its singular value decomposition, A = U Σ Vᵀ.</a:t>
            </a:r>
          </a:p>
          <a:p>
            <a:r>
              <a:t>The coloured blocks on the right are that factorisation for our real data set: 1,404 words by 400 news articles, compressed to 5 concepts.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two real articles from our data. One is about desktop search tools, the other about a new version of Google Groups. A human sees immediately that they are both about internet search products.</a:t>
            </a:r>
          </a:p>
          <a:p>
            <a:r>
              <a:t>After removing common words, the two articles have no word in common. Represented as word vectors, they are perpendicular: cosine similarity exactly 0. Any method that compares words directly, including k-means on TF-IDF vectors, treats them as unrelated.</a:t>
            </a:r>
          </a:p>
          <a:p>
            <a:r>
              <a:t>After LSA keeps 5 concepts, their cosine similarity is 0.98. The other 398 articles connect their vocabularies: words like Google, search and software keep appearing together, and the SVD turns that into shared concepts.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whole method is five steps. Steps 1 and 2 turn text into a matrix. Step 3 is the singular value decomposition. Step 4 keeps only the strongest k concepts; this truncation is where LSA gets its power. Step 5 uses the compressed representation: k-means clustering, and search by folding a new query into the same concept space.</a:t>
            </a:r>
          </a:p>
          <a:p>
            <a:r>
              <a:t>The rest of the talk follows these five steps, and the small squares at the bottom of each slide show which step we are 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use three collections. The classic one is the worked example from Deerwester and colleagues' 1990 paper that introduced LSA: nine titles, twelve words. It is small enough to see every number, and our code reproduces the paper's published numbers exactly.</a:t>
            </a:r>
          </a:p>
          <a:p>
            <a:r>
              <a:t>The science collection is the one we started with: 24 one-sentence blurbs. It taught us something: when documents share almost no words, the SVD has nothing to find.</a:t>
            </a:r>
          </a:p>
          <a:p>
            <a:r>
              <a:t>The news collection is the main experiment: 400 real articles from the AG News corpus, 100 each from World, Sports, Business and Sci/Tech. The labels are only used to score the result, never to build it.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the left is the full term–document matrix of the classic example: twelve words by nine titles, raw counts. Five titles are about human–computer interaction, four about graph theory.</a:t>
            </a:r>
          </a:p>
          <a:p>
            <a:r>
              <a:t>For real text we weight the counts with TF-IDF: a word counts more when it is frequent in this document and rare across the collection. Then every column is scaled to unit length. Our implementation is written out by hand and a test checks it matches scikit-learn exactly.</a:t>
            </a:r>
          </a:p>
          <a:p>
            <a:r>
              <a:t>The key fact is sparsity: 99% of the news matrix is zero, and 72% of pairs of articles from the same section have no word in common. Comparing columns of A directly cannot work.</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singular value decomposition writes any real matrix as U Σ Vᵀ. Unlike an eigendecomposition it works for rectangular matrices, which is exactly what a words-by-documents matrix is.</a:t>
            </a:r>
          </a:p>
          <a:p>
            <a:r>
              <a:t>U's columns are concepts expressed as word weights. Σ is diagonal and holds the singular values in decreasing order: the strength of each concept. V's rows place each document on the concepts.</a:t>
            </a:r>
          </a:p>
          <a:p>
            <a:r>
              <a:t>Why are these meaningful? Multiply out AᵀA and the U's cancel because UᵀU is the identity: AᵀA = V Σ² Vᵀ. So V contains the eigenvectors of the document similarity matrix and σᵢ² its eigenvalues. Likewise U for the word co-occurrence matrix AAᵀ. In the app we check each of these properties numerically on the real matrix.</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Another way to read the SVD: A is a sum of rank-one layers, σᵢ uᵢ vᵢᵀ, strongest first.</a:t>
            </a:r>
          </a:p>
          <a:p>
            <a:r>
              <a:t>On the left is the original count matrix, on the right the sum of just the first two layers. Two layers already capture 57% of the energy, and the block structure is clear: computer-interaction words light up in the c-titles, graph words in the m-titles.</a:t>
            </a:r>
          </a:p>
          <a:p>
            <a:r>
              <a:t>The outlined cells are the interesting part. For example, title c3 never contains the word "human", but after compression it gets a positive weight for it, because it uses "user", "interface" and "system", which co-occur with "human" elsewhere. That is LSA filling in what a document is about.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is throwing away all but k layers the right thing to do? The Eckart–Young–Mirsky theorem: among all matrices of rank at most k, the truncated SVD A_k is the closest to A in the Frobenius norm, and also in the spectral norm. The error is exactly the square root of the sum of the discarded σᵢ².</a:t>
            </a:r>
          </a:p>
          <a:p>
            <a:r>
              <a:t>We check this on the real data. At k = 5 the measured error is 19.5045 and the formula gives 19.5045. The spectral error equals σ_(k+1) = 1.6417.</a:t>
            </a:r>
          </a:p>
          <a:p>
            <a:r>
              <a:t>The chart shows the error for every k, with the theory line through the measured dots, and the grey band is the error of projecting onto random subspaces of the same dimension: always worse, as the theorem promises.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singular values of the news matrix. The first five stand above a long, slowly decaying tail; there are 399 non-zero values in total.</a:t>
            </a:r>
          </a:p>
          <a:p>
            <a:r>
              <a:t>Keeping k = 5 concepts keeps only 4.9% of the energy, the squared Frobenius norm. As a reconstruction of A that is terrible. But reconstruction is not our goal. The tail describes what is unique to individual articles: names, numbers, one-off phrasing. The strong concepts describe the vocabulary that many articles share, which is what topics are made of. We will see that this k gives the best clustering.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result that made LSA famous, the synonymy problem. "Human" and "user" never appear in the same title, so in the original matrix their rows have correlation -0.38.</a:t>
            </a:r>
          </a:p>
          <a:p>
            <a:r>
              <a:t>But both co-occur with computer, interface and system. After keeping two concepts, their rows in A₂ have correlation +0.94. Meanwhile "human" and "minors", from the graph-theory titles, go from -0.29 to -0.83.</a:t>
            </a:r>
          </a:p>
          <a:p>
            <a:r>
              <a:t>The heatmaps show all word pairs: after compression the matrix splits cleanly into two blocks, one per topic. These numbers match the original paper exactly, and our test suite checks them.</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column of U is a concept: one weight per word. Concept 1 has only positive weights; because A has no negative entries its strongest direction is roughly the average article. The interesting concepts are the next ones, which are contrasts.</a:t>
            </a:r>
          </a:p>
          <a:p>
            <a:r>
              <a:t>Concept 2 separates markets words, oil, stocks and prices, from software and Microsoft. Concept 3 separates technology from world politics: Iraq, minister. Concept 4 is sports versus airline and Iraq news. A topic shows up as one end of one or more of these axes, and a document's coordinates say how much it leans each way.</a:t>
            </a:r>
          </a:p>
          <a:p>
            <a:r>
              <a:t>Signs are arbitrary in the SVD; we fix them so the largest weight is positive, so the output is reproducible.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picture is the whole project in one slide. Both panels show the cosine similarity between every pair of the 400 articles, sorted by section: World, Sports, Business, Sci/Tech.</a:t>
            </a:r>
          </a:p>
          <a:p>
            <a:r>
              <a:t>On the left we compare word vectors. Apart from the diagonal, where each article is compared with itself, almost everything is white, because most pairs share no words.</a:t>
            </a:r>
          </a:p>
          <a:p>
            <a:r>
              <a:t>On the right we compare the same articles through their 5 concept coordinates. Four blocks appear along the diagonal, one per section. Business and Sci/Tech overlap a little, which is honest: many technology stories are about companies.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actual clustering. Same algorithm, k-means with four clusters, same documents, run ten times with different random starts. The only difference is the representation: each article's 1,404-dimensional TF-IDF column, or its 5 concept coordinates.</a:t>
            </a:r>
          </a:p>
          <a:p>
            <a:r>
              <a:t>On raw TF-IDF the clusters barely agree with the real sections: adjusted Rand index 0.07, where 0 is chance. In concept space it is 0.54, about 8 times higher, and NMI goes from 0.12 to 0.50.</a:t>
            </a:r>
          </a:p>
          <a:p>
            <a:r>
              <a:t>The confusion matrices show why: raw TF-IDF piles most articles into a couple of clusters, while LSA recovers a clear diagonal. The remaining mistakes are mostly Business and Sci/Tech, which really do overlap.</a:t>
            </a:r>
          </a:p>
          <a:p>
            <a:r>
              <a:t>We deliberately do not compare silhouette scores between the two spaces: distances in 1,404 dimensions and in 5 dimensions are not comparable, and the earlier version of this project made that mistake.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do we pick k? This curve shows clustering quality for every k from 2 to 200, each point the mean of ten runs, with the shaded band one standard deviation.</a:t>
            </a:r>
          </a:p>
          <a:p>
            <a:r>
              <a:t>It rises while new concepts separate real topics, peaks at k = 5, and then slowly falls: the extra concepts describe individual articles rather than topics, and as k grows the concept space becomes a rotated copy of the original word space, so it converges to the raw TF-IDF result.</a:t>
            </a:r>
          </a:p>
          <a:p>
            <a:r>
              <a:t>Honest caveat: we used the labels to draw this curve. Without labels you would look at the elbow of the singular values, which here is also around five, or at how stable the clusters are across random seeds.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machinery gives search. A query is just a short document, so we weight it like one and fold it in: multiply by U_kᵀ to get its concept coordinates, and compare by cosine with every article. No new SVD is needed; it is one matrix–vector product. We check in the tests that folding in an existing document gives back exactly its own coordinates.</a:t>
            </a:r>
          </a:p>
          <a:p>
            <a:r>
              <a:t>For the query "computer virus", "virus" is not even in our vocabulary. Keyword search can only find the 8 articles that contain "computer". LSA ranks Microsoft and software stories at the top, and 9 of its top ten share no word with the query at all. The highlighted rows were found by meaning alone.</a:t>
            </a:r>
          </a:p>
          <a:p>
            <a:r>
              <a:t>The limitation is also visible: a word LSA has never seen contributes nothing.</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Everything in this talk is also an interactive lab, built with Streamlit. It is organised as seven short chapters, one per step, each with live charts, a worked example and a check-yourself question. You can switch between the three collections, change the weighting and k, and the whole lesson recomputes.</a:t>
            </a:r>
          </a:p>
          <a:p>
            <a:r>
              <a:t>It also accepts your own documents, one per line, and has a formula sheet with the questions we expect in a viva. We will demo it now if there is time.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lessons. First, about our own first attempt: the 24 science blurbs were each written with their own vocabulary, so the term–document matrix had almost no co-occurrence structure. The chart shows normalised singular values: the classic example drops quickly, the news collection has a clear gap after the first few, and the science blurbs are nearly flat. Four concepts kept only 22% of the energy. LSA can only find structure that repetition puts there.</a:t>
            </a:r>
          </a:p>
          <a:p>
            <a:r>
              <a:t>Second, the limits of the method. It is a bag of words; concepts mix positive and negative weights so they are not probabilities; each word has a single vector, so multiple meanings are averaged; the vocabulary is frozen; and a full SVD is expensive, though only the top k singular vectors are ever needed.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 up. The SVD turns patterns of word co-occurrence into orthogonal concepts. Truncating it, which Eckart–Young tells us is the optimal rank-k approximation, removes the noise of individual wording. And comparing documents through those concepts instead of their raw words makes clustering agree with the true sections 8 times better, and lets search find documents that share no words with the query.</a:t>
            </a:r>
          </a:p>
          <a:p>
            <a:r>
              <a:t>Thank you. We are happy to take questions, or to show any step live in the app.</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3038"/>
        </a:solidFill>
        <a:effectLst/>
      </p:bgPr>
    </p:bg>
    <p:spTree>
      <p:nvGrpSpPr>
        <p:cNvPr id="1" name=""/>
        <p:cNvGrpSpPr/>
        <p:nvPr/>
      </p:nvGrpSpPr>
      <p:grpSpPr>
        <a:xfrm>
          <a:off x="0" y="0"/>
          <a:ext cx="0" cy="0"/>
          <a:chOff x="0" y="0"/>
          <a:chExt cx="0" cy="0"/>
        </a:xfrm>
      </p:grpSpPr>
      <p:sp>
        <p:nvSpPr>
          <p:cNvPr id="2" name="TextBox 1"/>
          <p:cNvSpPr txBox="1"/>
          <p:nvPr/>
        </p:nvSpPr>
        <p:spPr>
          <a:xfrm>
            <a:off x="548640" y="822960"/>
            <a:ext cx="7315200" cy="365760"/>
          </a:xfrm>
          <a:prstGeom prst="rect">
            <a:avLst/>
          </a:prstGeom>
          <a:noFill/>
        </p:spPr>
        <p:txBody>
          <a:bodyPr wrap="square" lIns="18288" tIns="18288" rIns="18288" bIns="18288" anchor="t">
            <a:spAutoFit/>
          </a:bodyPr>
          <a:lstStyle/>
          <a:p>
            <a:pPr algn="l">
              <a:lnSpc>
                <a:spcPct val="112000"/>
              </a:lnSpc>
              <a:spcAft>
                <a:spcPts val="600"/>
              </a:spcAft>
            </a:pPr>
            <a:r>
              <a:rPr sz="1600" b="0" i="0">
                <a:solidFill>
                  <a:srgbClr val="9FC7C9"/>
                </a:solidFill>
                <a:latin typeface="Calibri"/>
              </a:rPr>
              <a:t>Mathematical Foundations of Data Science: mini-project</a:t>
            </a:r>
          </a:p>
        </p:txBody>
      </p:sp>
      <p:sp>
        <p:nvSpPr>
          <p:cNvPr id="3" name="TextBox 2"/>
          <p:cNvSpPr txBox="1"/>
          <p:nvPr/>
        </p:nvSpPr>
        <p:spPr>
          <a:xfrm>
            <a:off x="548640" y="1280160"/>
            <a:ext cx="7680960" cy="1828800"/>
          </a:xfrm>
          <a:prstGeom prst="rect">
            <a:avLst/>
          </a:prstGeom>
          <a:noFill/>
        </p:spPr>
        <p:txBody>
          <a:bodyPr wrap="square" lIns="18288" tIns="18288" rIns="18288" bIns="18288" anchor="t">
            <a:spAutoFit/>
          </a:bodyPr>
          <a:lstStyle/>
          <a:p>
            <a:pPr algn="l">
              <a:lnSpc>
                <a:spcPct val="95000"/>
              </a:lnSpc>
              <a:spcAft>
                <a:spcPts val="600"/>
              </a:spcAft>
            </a:pPr>
            <a:r>
              <a:rPr sz="5400" b="1" i="0">
                <a:solidFill>
                  <a:srgbClr val="FFFFFF"/>
                </a:solidFill>
                <a:latin typeface="Cambria"/>
              </a:rPr>
              <a:t>Clustering ideas, not words</a:t>
            </a:r>
          </a:p>
        </p:txBody>
      </p:sp>
      <p:sp>
        <p:nvSpPr>
          <p:cNvPr id="4" name="TextBox 3"/>
          <p:cNvSpPr txBox="1"/>
          <p:nvPr/>
        </p:nvSpPr>
        <p:spPr>
          <a:xfrm>
            <a:off x="548640" y="3063240"/>
            <a:ext cx="6949440" cy="1097280"/>
          </a:xfrm>
          <a:prstGeom prst="rect">
            <a:avLst/>
          </a:prstGeom>
          <a:noFill/>
        </p:spPr>
        <p:txBody>
          <a:bodyPr wrap="square" lIns="18288" tIns="18288" rIns="18288" bIns="18288" anchor="t">
            <a:spAutoFit/>
          </a:bodyPr>
          <a:lstStyle/>
          <a:p>
            <a:pPr algn="l">
              <a:lnSpc>
                <a:spcPct val="110000"/>
              </a:lnSpc>
              <a:spcAft>
                <a:spcPts val="600"/>
              </a:spcAft>
            </a:pPr>
            <a:r>
              <a:rPr sz="2200" b="0" i="0">
                <a:solidFill>
                  <a:srgbClr val="D9E6E8"/>
                </a:solidFill>
                <a:latin typeface="Calibri"/>
              </a:rPr>
              <a:t>Finding topics in documents with Latent Semantic Analysis and the singular value decomposition</a:t>
            </a:r>
          </a:p>
        </p:txBody>
      </p:sp>
      <p:sp>
        <p:nvSpPr>
          <p:cNvPr id="5" name="Rectangle 4"/>
          <p:cNvSpPr/>
          <p:nvPr/>
        </p:nvSpPr>
        <p:spPr>
          <a:xfrm>
            <a:off x="7635240" y="1188720"/>
            <a:ext cx="1051560" cy="2743200"/>
          </a:xfrm>
          <a:prstGeom prst="rect">
            <a:avLst/>
          </a:prstGeom>
          <a:solidFill>
            <a:srgbClr val="2B4C7E"/>
          </a:solidFill>
          <a:ln>
            <a:noFill/>
          </a:ln>
          <a:effectLst/>
        </p:spPr>
        <p:style>
          <a:lnRef idx="1">
            <a:schemeClr val="accent1"/>
          </a:lnRef>
          <a:fillRef idx="3">
            <a:schemeClr val="accent1"/>
          </a:fillRef>
          <a:effectRef idx="0">
            <a:schemeClr val="accent1"/>
          </a:effectRef>
          <a:fontRef idx="minor">
            <a:schemeClr val="lt1"/>
          </a:fontRef>
        </p:style>
        <p:txBody>
          <a:bodyPr lIns="0" rIns="0" rtlCol="0" anchor="ctr"/>
          <a:lstStyle/>
          <a:p>
            <a:pPr algn="ctr"/>
            <a:r>
              <a:rPr sz="2600" b="1">
                <a:solidFill>
                  <a:srgbClr val="FFFFFF"/>
                </a:solidFill>
                <a:latin typeface="Cambria"/>
              </a:rPr>
              <a:t>A</a:t>
            </a:r>
          </a:p>
        </p:txBody>
      </p:sp>
      <p:sp>
        <p:nvSpPr>
          <p:cNvPr id="6" name="TextBox 5"/>
          <p:cNvSpPr txBox="1"/>
          <p:nvPr/>
        </p:nvSpPr>
        <p:spPr>
          <a:xfrm>
            <a:off x="8686800" y="2240279"/>
            <a:ext cx="411480" cy="548640"/>
          </a:xfrm>
          <a:prstGeom prst="rect">
            <a:avLst/>
          </a:prstGeom>
          <a:noFill/>
        </p:spPr>
        <p:txBody>
          <a:bodyPr wrap="square" lIns="18288" tIns="18288" rIns="18288" bIns="18288" anchor="t">
            <a:spAutoFit/>
          </a:bodyPr>
          <a:lstStyle/>
          <a:p>
            <a:pPr algn="ctr">
              <a:lnSpc>
                <a:spcPct val="112000"/>
              </a:lnSpc>
              <a:spcAft>
                <a:spcPts val="600"/>
              </a:spcAft>
            </a:pPr>
            <a:r>
              <a:rPr sz="3000" b="0" i="0">
                <a:solidFill>
                  <a:srgbClr val="9FC7C9"/>
                </a:solidFill>
                <a:latin typeface="Cambria"/>
              </a:rPr>
              <a:t>=</a:t>
            </a:r>
          </a:p>
        </p:txBody>
      </p:sp>
      <p:sp>
        <p:nvSpPr>
          <p:cNvPr id="7" name="Rectangle 6"/>
          <p:cNvSpPr/>
          <p:nvPr/>
        </p:nvSpPr>
        <p:spPr>
          <a:xfrm>
            <a:off x="9098280" y="1188720"/>
            <a:ext cx="502920" cy="2743200"/>
          </a:xfrm>
          <a:prstGeom prst="rect">
            <a:avLst/>
          </a:prstGeom>
          <a:solidFill>
            <a:srgbClr val="0F7A80"/>
          </a:solidFill>
          <a:ln>
            <a:noFill/>
          </a:ln>
          <a:effectLst/>
        </p:spPr>
        <p:style>
          <a:lnRef idx="1">
            <a:schemeClr val="accent1"/>
          </a:lnRef>
          <a:fillRef idx="3">
            <a:schemeClr val="accent1"/>
          </a:fillRef>
          <a:effectRef idx="0">
            <a:schemeClr val="accent1"/>
          </a:effectRef>
          <a:fontRef idx="minor">
            <a:schemeClr val="lt1"/>
          </a:fontRef>
        </p:style>
        <p:txBody>
          <a:bodyPr lIns="0" rIns="0" rtlCol="0" anchor="ctr"/>
          <a:lstStyle/>
          <a:p>
            <a:pPr algn="ctr"/>
            <a:r>
              <a:rPr sz="2600" b="1">
                <a:solidFill>
                  <a:srgbClr val="FFFFFF"/>
                </a:solidFill>
                <a:latin typeface="Cambria"/>
              </a:rPr>
              <a:t>U</a:t>
            </a:r>
          </a:p>
        </p:txBody>
      </p:sp>
      <p:sp>
        <p:nvSpPr>
          <p:cNvPr id="8" name="TextBox 7"/>
          <p:cNvSpPr txBox="1"/>
          <p:nvPr/>
        </p:nvSpPr>
        <p:spPr>
          <a:xfrm>
            <a:off x="9601200" y="1138428"/>
            <a:ext cx="274320" cy="457200"/>
          </a:xfrm>
          <a:prstGeom prst="rect">
            <a:avLst/>
          </a:prstGeom>
          <a:noFill/>
        </p:spPr>
        <p:txBody>
          <a:bodyPr wrap="square" lIns="18288" tIns="18288" rIns="18288" bIns="18288" anchor="t">
            <a:spAutoFit/>
          </a:bodyPr>
          <a:lstStyle/>
          <a:p>
            <a:pPr algn="ctr">
              <a:lnSpc>
                <a:spcPct val="112000"/>
              </a:lnSpc>
              <a:spcAft>
                <a:spcPts val="600"/>
              </a:spcAft>
            </a:pPr>
            <a:r>
              <a:rPr sz="3000" b="0" i="0">
                <a:solidFill>
                  <a:srgbClr val="9FC7C9"/>
                </a:solidFill>
                <a:latin typeface="Cambria"/>
              </a:rPr>
              <a:t>·</a:t>
            </a:r>
          </a:p>
        </p:txBody>
      </p:sp>
      <p:sp>
        <p:nvSpPr>
          <p:cNvPr id="9" name="Rectangle 8"/>
          <p:cNvSpPr/>
          <p:nvPr/>
        </p:nvSpPr>
        <p:spPr>
          <a:xfrm>
            <a:off x="9875520" y="1188720"/>
            <a:ext cx="502920" cy="502920"/>
          </a:xfrm>
          <a:prstGeom prst="rect">
            <a:avLst/>
          </a:prstGeom>
          <a:solidFill>
            <a:srgbClr val="B07A10"/>
          </a:solidFill>
          <a:ln>
            <a:noFill/>
          </a:ln>
          <a:effectLst/>
        </p:spPr>
        <p:style>
          <a:lnRef idx="1">
            <a:schemeClr val="accent1"/>
          </a:lnRef>
          <a:fillRef idx="3">
            <a:schemeClr val="accent1"/>
          </a:fillRef>
          <a:effectRef idx="0">
            <a:schemeClr val="accent1"/>
          </a:effectRef>
          <a:fontRef idx="minor">
            <a:schemeClr val="lt1"/>
          </a:fontRef>
        </p:style>
        <p:txBody>
          <a:bodyPr lIns="0" rIns="0" rtlCol="0" anchor="ctr"/>
          <a:lstStyle/>
          <a:p>
            <a:pPr algn="ctr"/>
            <a:r>
              <a:rPr sz="2600" b="1">
                <a:solidFill>
                  <a:srgbClr val="FFFFFF"/>
                </a:solidFill>
                <a:latin typeface="Cambria"/>
              </a:rPr>
              <a:t>Σ</a:t>
            </a:r>
          </a:p>
        </p:txBody>
      </p:sp>
      <p:sp>
        <p:nvSpPr>
          <p:cNvPr id="10" name="TextBox 9"/>
          <p:cNvSpPr txBox="1"/>
          <p:nvPr/>
        </p:nvSpPr>
        <p:spPr>
          <a:xfrm>
            <a:off x="10378440" y="1138428"/>
            <a:ext cx="274320" cy="457200"/>
          </a:xfrm>
          <a:prstGeom prst="rect">
            <a:avLst/>
          </a:prstGeom>
          <a:noFill/>
        </p:spPr>
        <p:txBody>
          <a:bodyPr wrap="square" lIns="18288" tIns="18288" rIns="18288" bIns="18288" anchor="t">
            <a:spAutoFit/>
          </a:bodyPr>
          <a:lstStyle/>
          <a:p>
            <a:pPr algn="ctr">
              <a:lnSpc>
                <a:spcPct val="112000"/>
              </a:lnSpc>
              <a:spcAft>
                <a:spcPts val="600"/>
              </a:spcAft>
            </a:pPr>
            <a:r>
              <a:rPr sz="3000" b="0" i="0">
                <a:solidFill>
                  <a:srgbClr val="9FC7C9"/>
                </a:solidFill>
                <a:latin typeface="Cambria"/>
              </a:rPr>
              <a:t>·</a:t>
            </a:r>
          </a:p>
        </p:txBody>
      </p:sp>
      <p:sp>
        <p:nvSpPr>
          <p:cNvPr id="11" name="Rectangle 10"/>
          <p:cNvSpPr/>
          <p:nvPr/>
        </p:nvSpPr>
        <p:spPr>
          <a:xfrm>
            <a:off x="10652760" y="1188720"/>
            <a:ext cx="1051560" cy="502920"/>
          </a:xfrm>
          <a:prstGeom prst="rect">
            <a:avLst/>
          </a:prstGeom>
          <a:solidFill>
            <a:srgbClr val="6A4FC4"/>
          </a:solidFill>
          <a:ln>
            <a:noFill/>
          </a:ln>
          <a:effectLst/>
        </p:spPr>
        <p:style>
          <a:lnRef idx="1">
            <a:schemeClr val="accent1"/>
          </a:lnRef>
          <a:fillRef idx="3">
            <a:schemeClr val="accent1"/>
          </a:fillRef>
          <a:effectRef idx="0">
            <a:schemeClr val="accent1"/>
          </a:effectRef>
          <a:fontRef idx="minor">
            <a:schemeClr val="lt1"/>
          </a:fontRef>
        </p:style>
        <p:txBody>
          <a:bodyPr lIns="0" rIns="0" rtlCol="0" anchor="ctr"/>
          <a:lstStyle/>
          <a:p>
            <a:pPr algn="ctr"/>
            <a:r>
              <a:rPr sz="2600" b="1">
                <a:solidFill>
                  <a:srgbClr val="FFFFFF"/>
                </a:solidFill>
                <a:latin typeface="Cambria"/>
              </a:rPr>
              <a:t>V</a:t>
            </a:r>
            <a:r>
              <a:rPr sz="2600" b="1" baseline="30000">
                <a:solidFill>
                  <a:srgbClr val="FFFFFF"/>
                </a:solidFill>
                <a:latin typeface="Cambria"/>
              </a:rPr>
              <a:t>T</a:t>
            </a:r>
          </a:p>
        </p:txBody>
      </p:sp>
      <p:sp>
        <p:nvSpPr>
          <p:cNvPr id="12" name="TextBox 11"/>
          <p:cNvSpPr txBox="1"/>
          <p:nvPr/>
        </p:nvSpPr>
        <p:spPr>
          <a:xfrm>
            <a:off x="7635240" y="4114800"/>
            <a:ext cx="3931920" cy="731520"/>
          </a:xfrm>
          <a:prstGeom prst="rect">
            <a:avLst/>
          </a:prstGeom>
          <a:noFill/>
        </p:spPr>
        <p:txBody>
          <a:bodyPr wrap="square" lIns="18288" tIns="18288" rIns="18288" bIns="18288" anchor="t">
            <a:spAutoFit/>
          </a:bodyPr>
          <a:lstStyle/>
          <a:p>
            <a:pPr algn="l">
              <a:lnSpc>
                <a:spcPct val="112000"/>
              </a:lnSpc>
              <a:spcAft>
                <a:spcPts val="600"/>
              </a:spcAft>
            </a:pPr>
            <a:r>
              <a:rPr sz="1400" b="0" i="0">
                <a:solidFill>
                  <a:srgbClr val="9FC7C9"/>
                </a:solidFill>
                <a:latin typeface="Calibri"/>
              </a:rPr>
              <a:t>1,404 words × 400 articles, kept as 5 concepts</a:t>
            </a:r>
          </a:p>
        </p:txBody>
      </p:sp>
      <p:sp>
        <p:nvSpPr>
          <p:cNvPr id="14" name="Subtitle 13">
            <a:extLst>
              <a:ext uri="{FF2B5EF4-FFF2-40B4-BE49-F238E27FC236}">
                <a16:creationId xmlns:a16="http://schemas.microsoft.com/office/drawing/2014/main" id="{400CF473-78FA-0651-1AB2-5AC23B722C9A}"/>
              </a:ext>
            </a:extLst>
          </p:cNvPr>
          <p:cNvSpPr>
            <a:spLocks noGrp="1"/>
          </p:cNvSpPr>
          <p:nvPr>
            <p:ph type="subTitle" idx="1"/>
          </p:nvPr>
        </p:nvSpPr>
        <p:spPr>
          <a:xfrm>
            <a:off x="426720" y="4160520"/>
            <a:ext cx="5669280" cy="2287172"/>
          </a:xfrm>
        </p:spPr>
        <p:txBody>
          <a:bodyPr>
            <a:normAutofit/>
          </a:bodyPr>
          <a:lstStyle/>
          <a:p>
            <a:r>
              <a:rPr lang="en-US" sz="2400" dirty="0">
                <a:solidFill>
                  <a:schemeClr val="bg1"/>
                </a:solidFill>
              </a:rPr>
              <a:t>Team:</a:t>
            </a:r>
          </a:p>
          <a:p>
            <a:r>
              <a:rPr lang="en-US" sz="2400" dirty="0">
                <a:solidFill>
                  <a:schemeClr val="bg1"/>
                </a:solidFill>
              </a:rPr>
              <a:t>Sreevatshan S – PES2UG25CS541</a:t>
            </a:r>
          </a:p>
          <a:p>
            <a:r>
              <a:rPr lang="en-US" sz="2400" dirty="0">
                <a:solidFill>
                  <a:schemeClr val="bg1"/>
                </a:solidFill>
              </a:rPr>
              <a:t>Tanisha Sinha - PES2UG25CS574</a:t>
            </a:r>
          </a:p>
          <a:p>
            <a:r>
              <a:rPr lang="en-US" sz="2400" dirty="0">
                <a:solidFill>
                  <a:schemeClr val="bg1"/>
                </a:solidFill>
              </a:rPr>
              <a:t> Tanu Bansal - PES2UG25CS576</a:t>
            </a:r>
          </a:p>
          <a:p>
            <a:r>
              <a:rPr lang="en-US" sz="2400" dirty="0">
                <a:solidFill>
                  <a:schemeClr val="bg1"/>
                </a:solidFill>
              </a:rPr>
              <a:t> Sonali Kumar - PES2UG25CS538</a:t>
            </a:r>
          </a:p>
          <a:p>
            <a:endParaRPr lang="en-IN"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728655" y="6400800"/>
            <a:ext cx="914400" cy="274320"/>
          </a:xfrm>
          <a:prstGeom prst="rect">
            <a:avLst/>
          </a:prstGeom>
          <a:noFill/>
        </p:spPr>
        <p:txBody>
          <a:bodyPr wrap="square" lIns="18288" tIns="18288" rIns="18288" bIns="18288" anchor="t">
            <a:spAutoFit/>
          </a:bodyPr>
          <a:lstStyle/>
          <a:p>
            <a:pPr algn="r">
              <a:lnSpc>
                <a:spcPct val="112000"/>
              </a:lnSpc>
              <a:spcAft>
                <a:spcPts val="600"/>
              </a:spcAft>
            </a:pPr>
            <a:r>
              <a:rPr sz="1100" b="0" i="0">
                <a:solidFill>
                  <a:srgbClr val="7A8494"/>
                </a:solidFill>
                <a:latin typeface="Calibri"/>
              </a:rPr>
              <a:t>2</a:t>
            </a:r>
          </a:p>
        </p:txBody>
      </p:sp>
      <p:sp>
        <p:nvSpPr>
          <p:cNvPr id="3" name="TextBox 2"/>
          <p:cNvSpPr txBox="1"/>
          <p:nvPr/>
        </p:nvSpPr>
        <p:spPr>
          <a:xfrm>
            <a:off x="548640" y="411480"/>
            <a:ext cx="11094415" cy="1051560"/>
          </a:xfrm>
          <a:prstGeom prst="rect">
            <a:avLst/>
          </a:prstGeom>
          <a:noFill/>
        </p:spPr>
        <p:txBody>
          <a:bodyPr wrap="square" lIns="18288" tIns="18288" rIns="18288" bIns="18288" anchor="t">
            <a:spAutoFit/>
          </a:bodyPr>
          <a:lstStyle/>
          <a:p>
            <a:pPr algn="l">
              <a:lnSpc>
                <a:spcPct val="100000"/>
              </a:lnSpc>
              <a:spcAft>
                <a:spcPts val="600"/>
              </a:spcAft>
            </a:pPr>
            <a:r>
              <a:rPr sz="3000" b="1" i="0">
                <a:solidFill>
                  <a:srgbClr val="18202B"/>
                </a:solidFill>
                <a:latin typeface="Cambria"/>
              </a:rPr>
              <a:t>Two articles about web search share no words, so word vectors call them unrelated</a:t>
            </a:r>
          </a:p>
        </p:txBody>
      </p:sp>
      <p:sp>
        <p:nvSpPr>
          <p:cNvPr id="4" name="Rounded Rectangle 3"/>
          <p:cNvSpPr/>
          <p:nvPr/>
        </p:nvSpPr>
        <p:spPr>
          <a:xfrm>
            <a:off x="548640" y="1691640"/>
            <a:ext cx="5440680" cy="2331720"/>
          </a:xfrm>
          <a:prstGeom prst="roundRect">
            <a:avLst>
              <a:gd name="adj" fmla="val 8000"/>
            </a:avLst>
          </a:prstGeom>
          <a:solidFill>
            <a:srgbClr val="EEF2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822959" y="1828800"/>
            <a:ext cx="4937760" cy="2194560"/>
          </a:xfrm>
          <a:prstGeom prst="rect">
            <a:avLst/>
          </a:prstGeom>
          <a:noFill/>
        </p:spPr>
        <p:txBody>
          <a:bodyPr wrap="square" lIns="18288" tIns="18288" rIns="18288" bIns="18288" anchor="t">
            <a:spAutoFit/>
          </a:bodyPr>
          <a:lstStyle/>
          <a:p>
            <a:pPr algn="l">
              <a:lnSpc>
                <a:spcPct val="112000"/>
              </a:lnSpc>
              <a:spcAft>
                <a:spcPts val="800"/>
              </a:spcAft>
            </a:pPr>
            <a:r>
              <a:rPr sz="1700" b="1" i="0">
                <a:solidFill>
                  <a:srgbClr val="18202B"/>
                </a:solidFill>
                <a:latin typeface="Cambria"/>
              </a:rPr>
              <a:t>Autonomy, Mamma.com Join Desktop Search Ranks</a:t>
            </a:r>
          </a:p>
          <a:p>
            <a:pPr algn="l">
              <a:lnSpc>
                <a:spcPct val="112000"/>
              </a:lnSpc>
              <a:spcAft>
                <a:spcPts val="800"/>
              </a:spcAft>
            </a:pPr>
            <a:r>
              <a:rPr sz="1400" b="0" i="0">
                <a:solidFill>
                  <a:srgbClr val="4D5766"/>
                </a:solidFill>
                <a:latin typeface="Calibri"/>
              </a:rPr>
              <a:t>Not to be left out of desktop search, two search vendors on Monday leaped into the growing space for managing e-mail, documents and other hard-drive data.</a:t>
            </a:r>
          </a:p>
          <a:p>
            <a:pPr algn="l">
              <a:lnSpc>
                <a:spcPct val="112000"/>
              </a:lnSpc>
              <a:spcAft>
                <a:spcPts val="800"/>
              </a:spcAft>
            </a:pPr>
            <a:r>
              <a:rPr sz="1200" b="0" i="0">
                <a:solidFill>
                  <a:srgbClr val="7A8494"/>
                </a:solidFill>
                <a:latin typeface="Calibri"/>
              </a:rPr>
              <a:t>kept words: </a:t>
            </a:r>
            <a:r>
              <a:rPr sz="1200" b="0" i="0">
                <a:solidFill>
                  <a:srgbClr val="0F7A80"/>
                </a:solidFill>
                <a:latin typeface="Calibri"/>
              </a:rPr>
              <a:t>com, data, desktop, drive, growing, hard, join, left, mail, monday, ranks, search, space</a:t>
            </a:r>
          </a:p>
        </p:txBody>
      </p:sp>
      <p:sp>
        <p:nvSpPr>
          <p:cNvPr id="6" name="Rounded Rectangle 5"/>
          <p:cNvSpPr/>
          <p:nvPr/>
        </p:nvSpPr>
        <p:spPr>
          <a:xfrm>
            <a:off x="6172200" y="1691640"/>
            <a:ext cx="5440680" cy="2331720"/>
          </a:xfrm>
          <a:prstGeom prst="roundRect">
            <a:avLst>
              <a:gd name="adj" fmla="val 8000"/>
            </a:avLst>
          </a:prstGeom>
          <a:solidFill>
            <a:srgbClr val="EEF2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 name="TextBox 6"/>
          <p:cNvSpPr txBox="1"/>
          <p:nvPr/>
        </p:nvSpPr>
        <p:spPr>
          <a:xfrm>
            <a:off x="6446520" y="1828800"/>
            <a:ext cx="4937760" cy="2194560"/>
          </a:xfrm>
          <a:prstGeom prst="rect">
            <a:avLst/>
          </a:prstGeom>
          <a:noFill/>
        </p:spPr>
        <p:txBody>
          <a:bodyPr wrap="square" lIns="18288" tIns="18288" rIns="18288" bIns="18288" anchor="t">
            <a:spAutoFit/>
          </a:bodyPr>
          <a:lstStyle/>
          <a:p>
            <a:pPr algn="l">
              <a:lnSpc>
                <a:spcPct val="112000"/>
              </a:lnSpc>
              <a:spcAft>
                <a:spcPts val="800"/>
              </a:spcAft>
            </a:pPr>
            <a:r>
              <a:rPr sz="1700" b="1" i="0">
                <a:solidFill>
                  <a:srgbClr val="18202B"/>
                </a:solidFill>
                <a:latin typeface="Cambria"/>
              </a:rPr>
              <a:t>New Version Of Google Groups Launched</a:t>
            </a:r>
          </a:p>
          <a:p>
            <a:pPr algn="l">
              <a:lnSpc>
                <a:spcPct val="112000"/>
              </a:lnSpc>
              <a:spcAft>
                <a:spcPts val="800"/>
              </a:spcAft>
            </a:pPr>
            <a:r>
              <a:rPr sz="1400" b="0" i="0">
                <a:solidFill>
                  <a:srgbClr val="4D5766"/>
                </a:solidFill>
                <a:latin typeface="Calibri"/>
              </a:rPr>
              <a:t>Shannon Bauman, Associate Product Manager of Google Groups announced the launch of a new and improved Google Groups. Whether your interests run to knitting or brain surgery, chances are good other people out there share them.</a:t>
            </a:r>
          </a:p>
          <a:p>
            <a:pPr algn="l">
              <a:lnSpc>
                <a:spcPct val="112000"/>
              </a:lnSpc>
              <a:spcAft>
                <a:spcPts val="800"/>
              </a:spcAft>
            </a:pPr>
            <a:r>
              <a:rPr sz="1200" b="0" i="0">
                <a:solidFill>
                  <a:srgbClr val="7A8494"/>
                </a:solidFill>
                <a:latin typeface="Calibri"/>
              </a:rPr>
              <a:t>kept words: </a:t>
            </a:r>
            <a:r>
              <a:rPr sz="1200" b="0" i="0">
                <a:solidFill>
                  <a:srgbClr val="0F7A80"/>
                </a:solidFill>
                <a:latin typeface="Calibri"/>
              </a:rPr>
              <a:t>announced, chances, good, google, groups, launch, launched, manager, new, people, product, run, share, surgery</a:t>
            </a:r>
          </a:p>
        </p:txBody>
      </p:sp>
      <p:sp>
        <p:nvSpPr>
          <p:cNvPr id="8" name="TextBox 7"/>
          <p:cNvSpPr txBox="1"/>
          <p:nvPr/>
        </p:nvSpPr>
        <p:spPr>
          <a:xfrm>
            <a:off x="548640" y="4343400"/>
            <a:ext cx="3474720" cy="731520"/>
          </a:xfrm>
          <a:prstGeom prst="rect">
            <a:avLst/>
          </a:prstGeom>
          <a:noFill/>
        </p:spPr>
        <p:txBody>
          <a:bodyPr wrap="square" lIns="18288" tIns="18288" rIns="18288" bIns="18288" anchor="t">
            <a:spAutoFit/>
          </a:bodyPr>
          <a:lstStyle/>
          <a:p>
            <a:pPr algn="l">
              <a:lnSpc>
                <a:spcPct val="100000"/>
              </a:lnSpc>
              <a:spcAft>
                <a:spcPts val="0"/>
              </a:spcAft>
            </a:pPr>
            <a:r>
              <a:rPr sz="4000" b="1" i="0">
                <a:solidFill>
                  <a:srgbClr val="18202B"/>
                </a:solidFill>
                <a:latin typeface="Cambria"/>
              </a:rPr>
              <a:t>0</a:t>
            </a:r>
          </a:p>
        </p:txBody>
      </p:sp>
      <p:sp>
        <p:nvSpPr>
          <p:cNvPr id="9" name="TextBox 8"/>
          <p:cNvSpPr txBox="1"/>
          <p:nvPr/>
        </p:nvSpPr>
        <p:spPr>
          <a:xfrm>
            <a:off x="548640" y="4942840"/>
            <a:ext cx="3474720" cy="822960"/>
          </a:xfrm>
          <a:prstGeom prst="rect">
            <a:avLst/>
          </a:prstGeom>
          <a:noFill/>
        </p:spPr>
        <p:txBody>
          <a:bodyPr wrap="square" lIns="18288" tIns="18288" rIns="18288" bIns="18288" anchor="t">
            <a:spAutoFit/>
          </a:bodyPr>
          <a:lstStyle/>
          <a:p>
            <a:pPr algn="l">
              <a:lnSpc>
                <a:spcPct val="112000"/>
              </a:lnSpc>
              <a:spcAft>
                <a:spcPts val="0"/>
              </a:spcAft>
            </a:pPr>
            <a:r>
              <a:rPr sz="1400" b="0" i="0">
                <a:solidFill>
                  <a:srgbClr val="4D5766"/>
                </a:solidFill>
                <a:latin typeface="Calibri"/>
              </a:rPr>
              <a:t>indexed words in common</a:t>
            </a:r>
          </a:p>
        </p:txBody>
      </p:sp>
      <p:sp>
        <p:nvSpPr>
          <p:cNvPr id="10" name="TextBox 9"/>
          <p:cNvSpPr txBox="1"/>
          <p:nvPr/>
        </p:nvSpPr>
        <p:spPr>
          <a:xfrm>
            <a:off x="4297679" y="4343400"/>
            <a:ext cx="3474720" cy="731520"/>
          </a:xfrm>
          <a:prstGeom prst="rect">
            <a:avLst/>
          </a:prstGeom>
          <a:noFill/>
        </p:spPr>
        <p:txBody>
          <a:bodyPr wrap="square" lIns="18288" tIns="18288" rIns="18288" bIns="18288" anchor="t">
            <a:spAutoFit/>
          </a:bodyPr>
          <a:lstStyle/>
          <a:p>
            <a:pPr algn="l">
              <a:lnSpc>
                <a:spcPct val="100000"/>
              </a:lnSpc>
              <a:spcAft>
                <a:spcPts val="0"/>
              </a:spcAft>
            </a:pPr>
            <a:r>
              <a:rPr sz="4000" b="1" i="0">
                <a:solidFill>
                  <a:srgbClr val="18202B"/>
                </a:solidFill>
                <a:latin typeface="Cambria"/>
              </a:rPr>
              <a:t>0.00</a:t>
            </a:r>
          </a:p>
        </p:txBody>
      </p:sp>
      <p:sp>
        <p:nvSpPr>
          <p:cNvPr id="11" name="TextBox 10"/>
          <p:cNvSpPr txBox="1"/>
          <p:nvPr/>
        </p:nvSpPr>
        <p:spPr>
          <a:xfrm>
            <a:off x="4297679" y="4942840"/>
            <a:ext cx="3474720" cy="822960"/>
          </a:xfrm>
          <a:prstGeom prst="rect">
            <a:avLst/>
          </a:prstGeom>
          <a:noFill/>
        </p:spPr>
        <p:txBody>
          <a:bodyPr wrap="square" lIns="18288" tIns="18288" rIns="18288" bIns="18288" anchor="t">
            <a:spAutoFit/>
          </a:bodyPr>
          <a:lstStyle/>
          <a:p>
            <a:pPr algn="l">
              <a:lnSpc>
                <a:spcPct val="112000"/>
              </a:lnSpc>
              <a:spcAft>
                <a:spcPts val="0"/>
              </a:spcAft>
            </a:pPr>
            <a:r>
              <a:rPr sz="1400" b="0" i="0">
                <a:solidFill>
                  <a:srgbClr val="4D5766"/>
                </a:solidFill>
                <a:latin typeface="Calibri"/>
              </a:rPr>
              <a:t>cosine similarity of their word vectors</a:t>
            </a:r>
          </a:p>
        </p:txBody>
      </p:sp>
      <p:sp>
        <p:nvSpPr>
          <p:cNvPr id="12" name="TextBox 11"/>
          <p:cNvSpPr txBox="1"/>
          <p:nvPr/>
        </p:nvSpPr>
        <p:spPr>
          <a:xfrm>
            <a:off x="8046719" y="4343400"/>
            <a:ext cx="3566160" cy="731520"/>
          </a:xfrm>
          <a:prstGeom prst="rect">
            <a:avLst/>
          </a:prstGeom>
          <a:noFill/>
        </p:spPr>
        <p:txBody>
          <a:bodyPr wrap="square" lIns="18288" tIns="18288" rIns="18288" bIns="18288" anchor="t">
            <a:spAutoFit/>
          </a:bodyPr>
          <a:lstStyle/>
          <a:p>
            <a:pPr algn="l">
              <a:lnSpc>
                <a:spcPct val="100000"/>
              </a:lnSpc>
              <a:spcAft>
                <a:spcPts val="0"/>
              </a:spcAft>
            </a:pPr>
            <a:r>
              <a:rPr sz="4000" b="1" i="0">
                <a:solidFill>
                  <a:srgbClr val="0F7A80"/>
                </a:solidFill>
                <a:latin typeface="Cambria"/>
              </a:rPr>
              <a:t>0.98</a:t>
            </a:r>
          </a:p>
        </p:txBody>
      </p:sp>
      <p:sp>
        <p:nvSpPr>
          <p:cNvPr id="13" name="TextBox 12"/>
          <p:cNvSpPr txBox="1"/>
          <p:nvPr/>
        </p:nvSpPr>
        <p:spPr>
          <a:xfrm>
            <a:off x="8046719" y="4942840"/>
            <a:ext cx="3566160" cy="822960"/>
          </a:xfrm>
          <a:prstGeom prst="rect">
            <a:avLst/>
          </a:prstGeom>
          <a:noFill/>
        </p:spPr>
        <p:txBody>
          <a:bodyPr wrap="square" lIns="18288" tIns="18288" rIns="18288" bIns="18288" anchor="t">
            <a:spAutoFit/>
          </a:bodyPr>
          <a:lstStyle/>
          <a:p>
            <a:pPr algn="l">
              <a:lnSpc>
                <a:spcPct val="112000"/>
              </a:lnSpc>
              <a:spcAft>
                <a:spcPts val="0"/>
              </a:spcAft>
            </a:pPr>
            <a:r>
              <a:rPr sz="1400" b="0" i="0">
                <a:solidFill>
                  <a:srgbClr val="4D5766"/>
                </a:solidFill>
                <a:latin typeface="Calibri"/>
              </a:rPr>
              <a:t>cosine similarity after keeping 5 concepts</a:t>
            </a:r>
          </a:p>
        </p:txBody>
      </p:sp>
      <p:sp>
        <p:nvSpPr>
          <p:cNvPr id="14" name="TextBox 13"/>
          <p:cNvSpPr txBox="1"/>
          <p:nvPr/>
        </p:nvSpPr>
        <p:spPr>
          <a:xfrm>
            <a:off x="548640" y="5715000"/>
            <a:ext cx="10972800" cy="548640"/>
          </a:xfrm>
          <a:prstGeom prst="rect">
            <a:avLst/>
          </a:prstGeom>
          <a:noFill/>
        </p:spPr>
        <p:txBody>
          <a:bodyPr wrap="square" lIns="18288" tIns="18288" rIns="18288" bIns="18288" anchor="t">
            <a:spAutoFit/>
          </a:bodyPr>
          <a:lstStyle/>
          <a:p>
            <a:pPr algn="l">
              <a:lnSpc>
                <a:spcPct val="112000"/>
              </a:lnSpc>
              <a:spcAft>
                <a:spcPts val="600"/>
              </a:spcAft>
            </a:pPr>
            <a:r>
              <a:rPr sz="1400" b="0" i="0">
                <a:solidFill>
                  <a:srgbClr val="4D5766"/>
                </a:solidFill>
                <a:latin typeface="Calibri"/>
              </a:rPr>
              <a:t>Both are filed under Sci/Tech in the AG News collection. The rest of this talk explains where the 0.98 comes from.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728655" y="6400800"/>
            <a:ext cx="914400" cy="274320"/>
          </a:xfrm>
          <a:prstGeom prst="rect">
            <a:avLst/>
          </a:prstGeom>
          <a:noFill/>
        </p:spPr>
        <p:txBody>
          <a:bodyPr wrap="square" lIns="18288" tIns="18288" rIns="18288" bIns="18288" anchor="t">
            <a:spAutoFit/>
          </a:bodyPr>
          <a:lstStyle/>
          <a:p>
            <a:pPr algn="r">
              <a:lnSpc>
                <a:spcPct val="112000"/>
              </a:lnSpc>
              <a:spcAft>
                <a:spcPts val="600"/>
              </a:spcAft>
            </a:pPr>
            <a:r>
              <a:rPr sz="1100" b="0" i="0">
                <a:solidFill>
                  <a:srgbClr val="7A8494"/>
                </a:solidFill>
                <a:latin typeface="Calibri"/>
              </a:rPr>
              <a:t>3</a:t>
            </a:r>
          </a:p>
        </p:txBody>
      </p:sp>
      <p:sp>
        <p:nvSpPr>
          <p:cNvPr id="3" name="TextBox 2"/>
          <p:cNvSpPr txBox="1"/>
          <p:nvPr/>
        </p:nvSpPr>
        <p:spPr>
          <a:xfrm>
            <a:off x="548640" y="411480"/>
            <a:ext cx="11094415" cy="1051560"/>
          </a:xfrm>
          <a:prstGeom prst="rect">
            <a:avLst/>
          </a:prstGeom>
          <a:noFill/>
        </p:spPr>
        <p:txBody>
          <a:bodyPr wrap="square" lIns="18288" tIns="18288" rIns="18288" bIns="18288" anchor="t">
            <a:spAutoFit/>
          </a:bodyPr>
          <a:lstStyle/>
          <a:p>
            <a:pPr algn="l">
              <a:lnSpc>
                <a:spcPct val="100000"/>
              </a:lnSpc>
              <a:spcAft>
                <a:spcPts val="600"/>
              </a:spcAft>
            </a:pPr>
            <a:r>
              <a:rPr sz="3000" b="1" i="0">
                <a:solidFill>
                  <a:srgbClr val="18202B"/>
                </a:solidFill>
                <a:latin typeface="Cambria"/>
              </a:rPr>
              <a:t>Five steps from raw text to topics</a:t>
            </a:r>
          </a:p>
        </p:txBody>
      </p:sp>
      <p:sp>
        <p:nvSpPr>
          <p:cNvPr id="4" name="Rounded Rectangle 3"/>
          <p:cNvSpPr/>
          <p:nvPr/>
        </p:nvSpPr>
        <p:spPr>
          <a:xfrm>
            <a:off x="548640" y="1828800"/>
            <a:ext cx="2029968" cy="3246120"/>
          </a:xfrm>
          <a:prstGeom prst="roundRect">
            <a:avLst>
              <a:gd name="adj" fmla="val 8000"/>
            </a:avLst>
          </a:prstGeom>
          <a:solidFill>
            <a:srgbClr val="EEF2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749808" y="2011680"/>
            <a:ext cx="914400" cy="548640"/>
          </a:xfrm>
          <a:prstGeom prst="rect">
            <a:avLst/>
          </a:prstGeom>
          <a:noFill/>
        </p:spPr>
        <p:txBody>
          <a:bodyPr wrap="square" lIns="18288" tIns="18288" rIns="18288" bIns="18288" anchor="t">
            <a:spAutoFit/>
          </a:bodyPr>
          <a:lstStyle/>
          <a:p>
            <a:pPr algn="l">
              <a:lnSpc>
                <a:spcPct val="112000"/>
              </a:lnSpc>
              <a:spcAft>
                <a:spcPts val="600"/>
              </a:spcAft>
            </a:pPr>
            <a:r>
              <a:rPr sz="3000" b="1" i="0">
                <a:solidFill>
                  <a:srgbClr val="2B4C7E"/>
                </a:solidFill>
                <a:latin typeface="Cambria"/>
              </a:rPr>
              <a:t>1</a:t>
            </a:r>
          </a:p>
        </p:txBody>
      </p:sp>
      <p:sp>
        <p:nvSpPr>
          <p:cNvPr id="6" name="TextBox 5"/>
          <p:cNvSpPr txBox="1"/>
          <p:nvPr/>
        </p:nvSpPr>
        <p:spPr>
          <a:xfrm>
            <a:off x="749808" y="2606040"/>
            <a:ext cx="1664208" cy="457200"/>
          </a:xfrm>
          <a:prstGeom prst="rect">
            <a:avLst/>
          </a:prstGeom>
          <a:noFill/>
        </p:spPr>
        <p:txBody>
          <a:bodyPr wrap="square" lIns="18288" tIns="18288" rIns="18288" bIns="18288" anchor="t">
            <a:spAutoFit/>
          </a:bodyPr>
          <a:lstStyle/>
          <a:p>
            <a:pPr algn="l">
              <a:lnSpc>
                <a:spcPct val="112000"/>
              </a:lnSpc>
              <a:spcAft>
                <a:spcPts val="600"/>
              </a:spcAft>
            </a:pPr>
            <a:r>
              <a:rPr sz="1900" b="1" i="0">
                <a:solidFill>
                  <a:srgbClr val="18202B"/>
                </a:solidFill>
                <a:latin typeface="Cambria"/>
              </a:rPr>
              <a:t>Count words</a:t>
            </a:r>
          </a:p>
        </p:txBody>
      </p:sp>
      <p:sp>
        <p:nvSpPr>
          <p:cNvPr id="7" name="TextBox 6"/>
          <p:cNvSpPr txBox="1"/>
          <p:nvPr/>
        </p:nvSpPr>
        <p:spPr>
          <a:xfrm>
            <a:off x="749808" y="3063240"/>
            <a:ext cx="1645920" cy="1097280"/>
          </a:xfrm>
          <a:prstGeom prst="rect">
            <a:avLst/>
          </a:prstGeom>
          <a:noFill/>
        </p:spPr>
        <p:txBody>
          <a:bodyPr wrap="square" lIns="18288" tIns="18288" rIns="18288" bIns="18288" anchor="t">
            <a:spAutoFit/>
          </a:bodyPr>
          <a:lstStyle/>
          <a:p>
            <a:pPr algn="l">
              <a:lnSpc>
                <a:spcPct val="112000"/>
              </a:lnSpc>
              <a:spcAft>
                <a:spcPts val="600"/>
              </a:spcAft>
            </a:pPr>
            <a:r>
              <a:rPr sz="1400" b="0" i="0">
                <a:solidFill>
                  <a:srgbClr val="4D5766"/>
                </a:solidFill>
                <a:latin typeface="Calibri"/>
              </a:rPr>
              <a:t>Clean each document and count its meaningful words.</a:t>
            </a:r>
          </a:p>
        </p:txBody>
      </p:sp>
      <p:pic>
        <p:nvPicPr>
          <p:cNvPr id="8" name="Picture 7" descr="eq_a769dad37e6e.png"/>
          <p:cNvPicPr>
            <a:picLocks noChangeAspect="1"/>
          </p:cNvPicPr>
          <p:nvPr/>
        </p:nvPicPr>
        <p:blipFill>
          <a:blip r:embed="rId3"/>
          <a:stretch>
            <a:fillRect/>
          </a:stretch>
        </p:blipFill>
        <p:spPr>
          <a:xfrm>
            <a:off x="749808" y="4389120"/>
            <a:ext cx="1511808" cy="262128"/>
          </a:xfrm>
          <a:prstGeom prst="rect">
            <a:avLst/>
          </a:prstGeom>
        </p:spPr>
      </p:pic>
      <p:sp>
        <p:nvSpPr>
          <p:cNvPr id="9" name="TextBox 8"/>
          <p:cNvSpPr txBox="1"/>
          <p:nvPr/>
        </p:nvSpPr>
        <p:spPr>
          <a:xfrm>
            <a:off x="2560320" y="3063240"/>
            <a:ext cx="265176" cy="457200"/>
          </a:xfrm>
          <a:prstGeom prst="rect">
            <a:avLst/>
          </a:prstGeom>
          <a:noFill/>
        </p:spPr>
        <p:txBody>
          <a:bodyPr wrap="square" lIns="18288" tIns="18288" rIns="18288" bIns="18288" anchor="t">
            <a:spAutoFit/>
          </a:bodyPr>
          <a:lstStyle/>
          <a:p>
            <a:pPr algn="ctr">
              <a:lnSpc>
                <a:spcPct val="112000"/>
              </a:lnSpc>
              <a:spcAft>
                <a:spcPts val="600"/>
              </a:spcAft>
            </a:pPr>
            <a:r>
              <a:rPr sz="2600" b="0" i="0">
                <a:solidFill>
                  <a:srgbClr val="7A8494"/>
                </a:solidFill>
                <a:latin typeface="Calibri"/>
              </a:rPr>
              <a:t>›</a:t>
            </a:r>
          </a:p>
        </p:txBody>
      </p:sp>
      <p:sp>
        <p:nvSpPr>
          <p:cNvPr id="10" name="Rounded Rectangle 9"/>
          <p:cNvSpPr/>
          <p:nvPr/>
        </p:nvSpPr>
        <p:spPr>
          <a:xfrm>
            <a:off x="2807208" y="1828800"/>
            <a:ext cx="2029968" cy="3246120"/>
          </a:xfrm>
          <a:prstGeom prst="roundRect">
            <a:avLst>
              <a:gd name="adj" fmla="val 8000"/>
            </a:avLst>
          </a:prstGeom>
          <a:solidFill>
            <a:srgbClr val="EEF2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3008376" y="2011680"/>
            <a:ext cx="914400" cy="548640"/>
          </a:xfrm>
          <a:prstGeom prst="rect">
            <a:avLst/>
          </a:prstGeom>
          <a:noFill/>
        </p:spPr>
        <p:txBody>
          <a:bodyPr wrap="square" lIns="18288" tIns="18288" rIns="18288" bIns="18288" anchor="t">
            <a:spAutoFit/>
          </a:bodyPr>
          <a:lstStyle/>
          <a:p>
            <a:pPr algn="l">
              <a:lnSpc>
                <a:spcPct val="112000"/>
              </a:lnSpc>
              <a:spcAft>
                <a:spcPts val="600"/>
              </a:spcAft>
            </a:pPr>
            <a:r>
              <a:rPr sz="3000" b="1" i="0">
                <a:solidFill>
                  <a:srgbClr val="2B4C7E"/>
                </a:solidFill>
                <a:latin typeface="Cambria"/>
              </a:rPr>
              <a:t>2</a:t>
            </a:r>
          </a:p>
        </p:txBody>
      </p:sp>
      <p:sp>
        <p:nvSpPr>
          <p:cNvPr id="12" name="TextBox 11"/>
          <p:cNvSpPr txBox="1"/>
          <p:nvPr/>
        </p:nvSpPr>
        <p:spPr>
          <a:xfrm>
            <a:off x="3008376" y="2606040"/>
            <a:ext cx="1664208" cy="457200"/>
          </a:xfrm>
          <a:prstGeom prst="rect">
            <a:avLst/>
          </a:prstGeom>
          <a:noFill/>
        </p:spPr>
        <p:txBody>
          <a:bodyPr wrap="square" lIns="18288" tIns="18288" rIns="18288" bIns="18288" anchor="t">
            <a:spAutoFit/>
          </a:bodyPr>
          <a:lstStyle/>
          <a:p>
            <a:pPr algn="l">
              <a:lnSpc>
                <a:spcPct val="112000"/>
              </a:lnSpc>
              <a:spcAft>
                <a:spcPts val="600"/>
              </a:spcAft>
            </a:pPr>
            <a:r>
              <a:rPr sz="1900" b="1" i="0">
                <a:solidFill>
                  <a:srgbClr val="18202B"/>
                </a:solidFill>
                <a:latin typeface="Cambria"/>
              </a:rPr>
              <a:t>Build A</a:t>
            </a:r>
          </a:p>
        </p:txBody>
      </p:sp>
      <p:sp>
        <p:nvSpPr>
          <p:cNvPr id="13" name="TextBox 12"/>
          <p:cNvSpPr txBox="1"/>
          <p:nvPr/>
        </p:nvSpPr>
        <p:spPr>
          <a:xfrm>
            <a:off x="3008376" y="3063240"/>
            <a:ext cx="1645920" cy="1097280"/>
          </a:xfrm>
          <a:prstGeom prst="rect">
            <a:avLst/>
          </a:prstGeom>
          <a:noFill/>
        </p:spPr>
        <p:txBody>
          <a:bodyPr wrap="square" lIns="18288" tIns="18288" rIns="18288" bIns="18288" anchor="t">
            <a:spAutoFit/>
          </a:bodyPr>
          <a:lstStyle/>
          <a:p>
            <a:pPr algn="l">
              <a:lnSpc>
                <a:spcPct val="112000"/>
              </a:lnSpc>
              <a:spcAft>
                <a:spcPts val="600"/>
              </a:spcAft>
            </a:pPr>
            <a:r>
              <a:rPr sz="1400" b="0" i="0">
                <a:solidFill>
                  <a:srgbClr val="4D5766"/>
                </a:solidFill>
                <a:latin typeface="Calibri"/>
              </a:rPr>
              <a:t>Stack the counts as columns and weight with TF-IDF.</a:t>
            </a:r>
          </a:p>
        </p:txBody>
      </p:sp>
      <p:pic>
        <p:nvPicPr>
          <p:cNvPr id="14" name="Picture 13" descr="eq_6a4331d7bd46.png"/>
          <p:cNvPicPr>
            <a:picLocks noChangeAspect="1"/>
          </p:cNvPicPr>
          <p:nvPr/>
        </p:nvPicPr>
        <p:blipFill>
          <a:blip r:embed="rId4"/>
          <a:stretch>
            <a:fillRect/>
          </a:stretch>
        </p:blipFill>
        <p:spPr>
          <a:xfrm>
            <a:off x="3008376" y="4389120"/>
            <a:ext cx="893064" cy="237744"/>
          </a:xfrm>
          <a:prstGeom prst="rect">
            <a:avLst/>
          </a:prstGeom>
        </p:spPr>
      </p:pic>
      <p:sp>
        <p:nvSpPr>
          <p:cNvPr id="15" name="TextBox 14"/>
          <p:cNvSpPr txBox="1"/>
          <p:nvPr/>
        </p:nvSpPr>
        <p:spPr>
          <a:xfrm>
            <a:off x="4818888" y="3063240"/>
            <a:ext cx="265176" cy="457200"/>
          </a:xfrm>
          <a:prstGeom prst="rect">
            <a:avLst/>
          </a:prstGeom>
          <a:noFill/>
        </p:spPr>
        <p:txBody>
          <a:bodyPr wrap="square" lIns="18288" tIns="18288" rIns="18288" bIns="18288" anchor="t">
            <a:spAutoFit/>
          </a:bodyPr>
          <a:lstStyle/>
          <a:p>
            <a:pPr algn="ctr">
              <a:lnSpc>
                <a:spcPct val="112000"/>
              </a:lnSpc>
              <a:spcAft>
                <a:spcPts val="600"/>
              </a:spcAft>
            </a:pPr>
            <a:r>
              <a:rPr sz="2600" b="0" i="0">
                <a:solidFill>
                  <a:srgbClr val="7A8494"/>
                </a:solidFill>
                <a:latin typeface="Calibri"/>
              </a:rPr>
              <a:t>›</a:t>
            </a:r>
          </a:p>
        </p:txBody>
      </p:sp>
      <p:sp>
        <p:nvSpPr>
          <p:cNvPr id="16" name="Rounded Rectangle 15"/>
          <p:cNvSpPr/>
          <p:nvPr/>
        </p:nvSpPr>
        <p:spPr>
          <a:xfrm>
            <a:off x="5065776" y="1828800"/>
            <a:ext cx="2029968" cy="3246120"/>
          </a:xfrm>
          <a:prstGeom prst="roundRect">
            <a:avLst>
              <a:gd name="adj" fmla="val 8000"/>
            </a:avLst>
          </a:prstGeom>
          <a:solidFill>
            <a:srgbClr val="EEF2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5266944" y="2011680"/>
            <a:ext cx="914400" cy="548640"/>
          </a:xfrm>
          <a:prstGeom prst="rect">
            <a:avLst/>
          </a:prstGeom>
          <a:noFill/>
        </p:spPr>
        <p:txBody>
          <a:bodyPr wrap="square" lIns="18288" tIns="18288" rIns="18288" bIns="18288" anchor="t">
            <a:spAutoFit/>
          </a:bodyPr>
          <a:lstStyle/>
          <a:p>
            <a:pPr algn="l">
              <a:lnSpc>
                <a:spcPct val="112000"/>
              </a:lnSpc>
              <a:spcAft>
                <a:spcPts val="600"/>
              </a:spcAft>
            </a:pPr>
            <a:r>
              <a:rPr sz="3000" b="1" i="0">
                <a:solidFill>
                  <a:srgbClr val="0F7A80"/>
                </a:solidFill>
                <a:latin typeface="Cambria"/>
              </a:rPr>
              <a:t>3</a:t>
            </a:r>
          </a:p>
        </p:txBody>
      </p:sp>
      <p:sp>
        <p:nvSpPr>
          <p:cNvPr id="18" name="TextBox 17"/>
          <p:cNvSpPr txBox="1"/>
          <p:nvPr/>
        </p:nvSpPr>
        <p:spPr>
          <a:xfrm>
            <a:off x="5266944" y="2606040"/>
            <a:ext cx="1664208" cy="457200"/>
          </a:xfrm>
          <a:prstGeom prst="rect">
            <a:avLst/>
          </a:prstGeom>
          <a:noFill/>
        </p:spPr>
        <p:txBody>
          <a:bodyPr wrap="square" lIns="18288" tIns="18288" rIns="18288" bIns="18288" anchor="t">
            <a:spAutoFit/>
          </a:bodyPr>
          <a:lstStyle/>
          <a:p>
            <a:pPr algn="l">
              <a:lnSpc>
                <a:spcPct val="112000"/>
              </a:lnSpc>
              <a:spcAft>
                <a:spcPts val="600"/>
              </a:spcAft>
            </a:pPr>
            <a:r>
              <a:rPr sz="1900" b="1" i="0">
                <a:solidFill>
                  <a:srgbClr val="18202B"/>
                </a:solidFill>
                <a:latin typeface="Cambria"/>
              </a:rPr>
              <a:t>Factorise</a:t>
            </a:r>
          </a:p>
        </p:txBody>
      </p:sp>
      <p:sp>
        <p:nvSpPr>
          <p:cNvPr id="19" name="TextBox 18"/>
          <p:cNvSpPr txBox="1"/>
          <p:nvPr/>
        </p:nvSpPr>
        <p:spPr>
          <a:xfrm>
            <a:off x="5266944" y="3063240"/>
            <a:ext cx="1645920" cy="1097280"/>
          </a:xfrm>
          <a:prstGeom prst="rect">
            <a:avLst/>
          </a:prstGeom>
          <a:noFill/>
        </p:spPr>
        <p:txBody>
          <a:bodyPr wrap="square" lIns="18288" tIns="18288" rIns="18288" bIns="18288" anchor="t">
            <a:spAutoFit/>
          </a:bodyPr>
          <a:lstStyle/>
          <a:p>
            <a:pPr algn="l">
              <a:lnSpc>
                <a:spcPct val="112000"/>
              </a:lnSpc>
              <a:spcAft>
                <a:spcPts val="600"/>
              </a:spcAft>
            </a:pPr>
            <a:r>
              <a:rPr sz="1400" b="0" i="0">
                <a:solidFill>
                  <a:srgbClr val="4D5766"/>
                </a:solidFill>
                <a:latin typeface="Calibri"/>
              </a:rPr>
              <a:t>Take the singular value decomposition of A.</a:t>
            </a:r>
          </a:p>
        </p:txBody>
      </p:sp>
      <p:pic>
        <p:nvPicPr>
          <p:cNvPr id="20" name="Picture 19" descr="eq_d73b885477ab.png"/>
          <p:cNvPicPr>
            <a:picLocks noChangeAspect="1"/>
          </p:cNvPicPr>
          <p:nvPr/>
        </p:nvPicPr>
        <p:blipFill>
          <a:blip r:embed="rId5"/>
          <a:stretch>
            <a:fillRect/>
          </a:stretch>
        </p:blipFill>
        <p:spPr>
          <a:xfrm>
            <a:off x="5266944" y="4389120"/>
            <a:ext cx="935736" cy="237744"/>
          </a:xfrm>
          <a:prstGeom prst="rect">
            <a:avLst/>
          </a:prstGeom>
        </p:spPr>
      </p:pic>
      <p:sp>
        <p:nvSpPr>
          <p:cNvPr id="21" name="TextBox 20"/>
          <p:cNvSpPr txBox="1"/>
          <p:nvPr/>
        </p:nvSpPr>
        <p:spPr>
          <a:xfrm>
            <a:off x="7077456" y="3063240"/>
            <a:ext cx="265176" cy="457200"/>
          </a:xfrm>
          <a:prstGeom prst="rect">
            <a:avLst/>
          </a:prstGeom>
          <a:noFill/>
        </p:spPr>
        <p:txBody>
          <a:bodyPr wrap="square" lIns="18288" tIns="18288" rIns="18288" bIns="18288" anchor="t">
            <a:spAutoFit/>
          </a:bodyPr>
          <a:lstStyle/>
          <a:p>
            <a:pPr algn="ctr">
              <a:lnSpc>
                <a:spcPct val="112000"/>
              </a:lnSpc>
              <a:spcAft>
                <a:spcPts val="600"/>
              </a:spcAft>
            </a:pPr>
            <a:r>
              <a:rPr sz="2600" b="0" i="0">
                <a:solidFill>
                  <a:srgbClr val="7A8494"/>
                </a:solidFill>
                <a:latin typeface="Calibri"/>
              </a:rPr>
              <a:t>›</a:t>
            </a:r>
          </a:p>
        </p:txBody>
      </p:sp>
      <p:sp>
        <p:nvSpPr>
          <p:cNvPr id="22" name="Rounded Rectangle 21"/>
          <p:cNvSpPr/>
          <p:nvPr/>
        </p:nvSpPr>
        <p:spPr>
          <a:xfrm>
            <a:off x="7324344" y="1828800"/>
            <a:ext cx="2029968" cy="3246120"/>
          </a:xfrm>
          <a:prstGeom prst="roundRect">
            <a:avLst>
              <a:gd name="adj" fmla="val 8000"/>
            </a:avLst>
          </a:prstGeom>
          <a:solidFill>
            <a:srgbClr val="EEF2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7525512" y="2011680"/>
            <a:ext cx="914400" cy="548640"/>
          </a:xfrm>
          <a:prstGeom prst="rect">
            <a:avLst/>
          </a:prstGeom>
          <a:noFill/>
        </p:spPr>
        <p:txBody>
          <a:bodyPr wrap="square" lIns="18288" tIns="18288" rIns="18288" bIns="18288" anchor="t">
            <a:spAutoFit/>
          </a:bodyPr>
          <a:lstStyle/>
          <a:p>
            <a:pPr algn="l">
              <a:lnSpc>
                <a:spcPct val="112000"/>
              </a:lnSpc>
              <a:spcAft>
                <a:spcPts val="600"/>
              </a:spcAft>
            </a:pPr>
            <a:r>
              <a:rPr sz="3000" b="1" i="0">
                <a:solidFill>
                  <a:srgbClr val="B07A10"/>
                </a:solidFill>
                <a:latin typeface="Cambria"/>
              </a:rPr>
              <a:t>4</a:t>
            </a:r>
          </a:p>
        </p:txBody>
      </p:sp>
      <p:sp>
        <p:nvSpPr>
          <p:cNvPr id="24" name="TextBox 23"/>
          <p:cNvSpPr txBox="1"/>
          <p:nvPr/>
        </p:nvSpPr>
        <p:spPr>
          <a:xfrm>
            <a:off x="7525512" y="2606040"/>
            <a:ext cx="1664208" cy="457200"/>
          </a:xfrm>
          <a:prstGeom prst="rect">
            <a:avLst/>
          </a:prstGeom>
          <a:noFill/>
        </p:spPr>
        <p:txBody>
          <a:bodyPr wrap="square" lIns="18288" tIns="18288" rIns="18288" bIns="18288" anchor="t">
            <a:spAutoFit/>
          </a:bodyPr>
          <a:lstStyle/>
          <a:p>
            <a:pPr algn="l">
              <a:lnSpc>
                <a:spcPct val="112000"/>
              </a:lnSpc>
              <a:spcAft>
                <a:spcPts val="600"/>
              </a:spcAft>
            </a:pPr>
            <a:r>
              <a:rPr sz="1900" b="1" i="0">
                <a:solidFill>
                  <a:srgbClr val="18202B"/>
                </a:solidFill>
                <a:latin typeface="Cambria"/>
              </a:rPr>
              <a:t>Keep k</a:t>
            </a:r>
          </a:p>
        </p:txBody>
      </p:sp>
      <p:sp>
        <p:nvSpPr>
          <p:cNvPr id="25" name="TextBox 24"/>
          <p:cNvSpPr txBox="1"/>
          <p:nvPr/>
        </p:nvSpPr>
        <p:spPr>
          <a:xfrm>
            <a:off x="7525512" y="3063240"/>
            <a:ext cx="1645920" cy="1097280"/>
          </a:xfrm>
          <a:prstGeom prst="rect">
            <a:avLst/>
          </a:prstGeom>
          <a:noFill/>
        </p:spPr>
        <p:txBody>
          <a:bodyPr wrap="square" lIns="18288" tIns="18288" rIns="18288" bIns="18288" anchor="t">
            <a:spAutoFit/>
          </a:bodyPr>
          <a:lstStyle/>
          <a:p>
            <a:pPr algn="l">
              <a:lnSpc>
                <a:spcPct val="112000"/>
              </a:lnSpc>
              <a:spcAft>
                <a:spcPts val="600"/>
              </a:spcAft>
            </a:pPr>
            <a:r>
              <a:rPr sz="1400" b="0" i="0">
                <a:solidFill>
                  <a:srgbClr val="4D5766"/>
                </a:solidFill>
                <a:latin typeface="Calibri"/>
              </a:rPr>
              <a:t>Keep only the k strongest concepts.</a:t>
            </a:r>
          </a:p>
        </p:txBody>
      </p:sp>
      <p:pic>
        <p:nvPicPr>
          <p:cNvPr id="26" name="Picture 25" descr="eq_9e98ebe2a174.png"/>
          <p:cNvPicPr>
            <a:picLocks noChangeAspect="1"/>
          </p:cNvPicPr>
          <p:nvPr/>
        </p:nvPicPr>
        <p:blipFill>
          <a:blip r:embed="rId6"/>
          <a:stretch>
            <a:fillRect/>
          </a:stretch>
        </p:blipFill>
        <p:spPr>
          <a:xfrm>
            <a:off x="7525512" y="4389120"/>
            <a:ext cx="1188720" cy="277368"/>
          </a:xfrm>
          <a:prstGeom prst="rect">
            <a:avLst/>
          </a:prstGeom>
        </p:spPr>
      </p:pic>
      <p:sp>
        <p:nvSpPr>
          <p:cNvPr id="27" name="TextBox 26"/>
          <p:cNvSpPr txBox="1"/>
          <p:nvPr/>
        </p:nvSpPr>
        <p:spPr>
          <a:xfrm>
            <a:off x="9336024" y="3063240"/>
            <a:ext cx="265176" cy="457200"/>
          </a:xfrm>
          <a:prstGeom prst="rect">
            <a:avLst/>
          </a:prstGeom>
          <a:noFill/>
        </p:spPr>
        <p:txBody>
          <a:bodyPr wrap="square" lIns="18288" tIns="18288" rIns="18288" bIns="18288" anchor="t">
            <a:spAutoFit/>
          </a:bodyPr>
          <a:lstStyle/>
          <a:p>
            <a:pPr algn="ctr">
              <a:lnSpc>
                <a:spcPct val="112000"/>
              </a:lnSpc>
              <a:spcAft>
                <a:spcPts val="600"/>
              </a:spcAft>
            </a:pPr>
            <a:r>
              <a:rPr sz="2600" b="0" i="0">
                <a:solidFill>
                  <a:srgbClr val="7A8494"/>
                </a:solidFill>
                <a:latin typeface="Calibri"/>
              </a:rPr>
              <a:t>›</a:t>
            </a:r>
          </a:p>
        </p:txBody>
      </p:sp>
      <p:sp>
        <p:nvSpPr>
          <p:cNvPr id="28" name="Rounded Rectangle 27"/>
          <p:cNvSpPr/>
          <p:nvPr/>
        </p:nvSpPr>
        <p:spPr>
          <a:xfrm>
            <a:off x="9582912" y="1828800"/>
            <a:ext cx="2029968" cy="3246120"/>
          </a:xfrm>
          <a:prstGeom prst="roundRect">
            <a:avLst>
              <a:gd name="adj" fmla="val 8000"/>
            </a:avLst>
          </a:prstGeom>
          <a:solidFill>
            <a:srgbClr val="EEF2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9784080" y="2011680"/>
            <a:ext cx="914400" cy="548640"/>
          </a:xfrm>
          <a:prstGeom prst="rect">
            <a:avLst/>
          </a:prstGeom>
          <a:noFill/>
        </p:spPr>
        <p:txBody>
          <a:bodyPr wrap="square" lIns="18288" tIns="18288" rIns="18288" bIns="18288" anchor="t">
            <a:spAutoFit/>
          </a:bodyPr>
          <a:lstStyle/>
          <a:p>
            <a:pPr algn="l">
              <a:lnSpc>
                <a:spcPct val="112000"/>
              </a:lnSpc>
              <a:spcAft>
                <a:spcPts val="600"/>
              </a:spcAft>
            </a:pPr>
            <a:r>
              <a:rPr sz="3000" b="1" i="0">
                <a:solidFill>
                  <a:srgbClr val="6A4FC4"/>
                </a:solidFill>
                <a:latin typeface="Cambria"/>
              </a:rPr>
              <a:t>5</a:t>
            </a:r>
          </a:p>
        </p:txBody>
      </p:sp>
      <p:sp>
        <p:nvSpPr>
          <p:cNvPr id="30" name="TextBox 29"/>
          <p:cNvSpPr txBox="1"/>
          <p:nvPr/>
        </p:nvSpPr>
        <p:spPr>
          <a:xfrm>
            <a:off x="9784080" y="2606040"/>
            <a:ext cx="1664208" cy="457200"/>
          </a:xfrm>
          <a:prstGeom prst="rect">
            <a:avLst/>
          </a:prstGeom>
          <a:noFill/>
        </p:spPr>
        <p:txBody>
          <a:bodyPr wrap="square" lIns="18288" tIns="18288" rIns="18288" bIns="18288" anchor="t">
            <a:spAutoFit/>
          </a:bodyPr>
          <a:lstStyle/>
          <a:p>
            <a:pPr algn="l">
              <a:lnSpc>
                <a:spcPct val="112000"/>
              </a:lnSpc>
              <a:spcAft>
                <a:spcPts val="600"/>
              </a:spcAft>
            </a:pPr>
            <a:r>
              <a:rPr sz="1900" b="1" i="0">
                <a:solidFill>
                  <a:srgbClr val="18202B"/>
                </a:solidFill>
                <a:latin typeface="Cambria"/>
              </a:rPr>
              <a:t>Use it</a:t>
            </a:r>
          </a:p>
        </p:txBody>
      </p:sp>
      <p:sp>
        <p:nvSpPr>
          <p:cNvPr id="31" name="TextBox 30"/>
          <p:cNvSpPr txBox="1"/>
          <p:nvPr/>
        </p:nvSpPr>
        <p:spPr>
          <a:xfrm>
            <a:off x="9784080" y="3063240"/>
            <a:ext cx="1645920" cy="1097280"/>
          </a:xfrm>
          <a:prstGeom prst="rect">
            <a:avLst/>
          </a:prstGeom>
          <a:noFill/>
        </p:spPr>
        <p:txBody>
          <a:bodyPr wrap="square" lIns="18288" tIns="18288" rIns="18288" bIns="18288" anchor="t">
            <a:spAutoFit/>
          </a:bodyPr>
          <a:lstStyle/>
          <a:p>
            <a:pPr algn="l">
              <a:lnSpc>
                <a:spcPct val="112000"/>
              </a:lnSpc>
              <a:spcAft>
                <a:spcPts val="600"/>
              </a:spcAft>
            </a:pPr>
            <a:r>
              <a:rPr sz="1400" b="0" i="0">
                <a:solidFill>
                  <a:srgbClr val="4D5766"/>
                </a:solidFill>
                <a:latin typeface="Calibri"/>
              </a:rPr>
              <a:t>Cluster documents, and fold in queries to search.</a:t>
            </a:r>
          </a:p>
        </p:txBody>
      </p:sp>
      <p:pic>
        <p:nvPicPr>
          <p:cNvPr id="32" name="Picture 31" descr="eq_e066f41f8e4d.png"/>
          <p:cNvPicPr>
            <a:picLocks noChangeAspect="1"/>
          </p:cNvPicPr>
          <p:nvPr/>
        </p:nvPicPr>
        <p:blipFill>
          <a:blip r:embed="rId7"/>
          <a:stretch>
            <a:fillRect/>
          </a:stretch>
        </p:blipFill>
        <p:spPr>
          <a:xfrm>
            <a:off x="9784080" y="4389120"/>
            <a:ext cx="1088136" cy="277368"/>
          </a:xfrm>
          <a:prstGeom prst="rect">
            <a:avLst/>
          </a:prstGeom>
        </p:spPr>
      </p:pic>
      <p:sp>
        <p:nvSpPr>
          <p:cNvPr id="33" name="TextBox 32"/>
          <p:cNvSpPr txBox="1"/>
          <p:nvPr/>
        </p:nvSpPr>
        <p:spPr>
          <a:xfrm>
            <a:off x="548640" y="5440680"/>
            <a:ext cx="10972800" cy="822960"/>
          </a:xfrm>
          <a:prstGeom prst="rect">
            <a:avLst/>
          </a:prstGeom>
          <a:noFill/>
        </p:spPr>
        <p:txBody>
          <a:bodyPr wrap="square" lIns="18288" tIns="18288" rIns="18288" bIns="18288" anchor="t">
            <a:spAutoFit/>
          </a:bodyPr>
          <a:lstStyle/>
          <a:p>
            <a:pPr algn="l">
              <a:lnSpc>
                <a:spcPct val="112000"/>
              </a:lnSpc>
              <a:spcAft>
                <a:spcPts val="600"/>
              </a:spcAft>
            </a:pPr>
            <a:r>
              <a:rPr sz="1500" b="0" i="0">
                <a:solidFill>
                  <a:srgbClr val="4D5766"/>
                </a:solidFill>
                <a:latin typeface="Calibri"/>
              </a:rPr>
              <a:t>Each step is one chapter of the interactive lab, and is checked by the test suite.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728655" y="6400800"/>
            <a:ext cx="914400" cy="274320"/>
          </a:xfrm>
          <a:prstGeom prst="rect">
            <a:avLst/>
          </a:prstGeom>
          <a:noFill/>
        </p:spPr>
        <p:txBody>
          <a:bodyPr wrap="square" lIns="18288" tIns="18288" rIns="18288" bIns="18288" anchor="t">
            <a:spAutoFit/>
          </a:bodyPr>
          <a:lstStyle/>
          <a:p>
            <a:pPr algn="r">
              <a:lnSpc>
                <a:spcPct val="112000"/>
              </a:lnSpc>
              <a:spcAft>
                <a:spcPts val="600"/>
              </a:spcAft>
            </a:pPr>
            <a:r>
              <a:rPr sz="1100" b="0" i="0">
                <a:solidFill>
                  <a:srgbClr val="7A8494"/>
                </a:solidFill>
                <a:latin typeface="Calibri"/>
              </a:rPr>
              <a:t>4</a:t>
            </a:r>
          </a:p>
        </p:txBody>
      </p:sp>
      <p:sp>
        <p:nvSpPr>
          <p:cNvPr id="3" name="TextBox 2"/>
          <p:cNvSpPr txBox="1"/>
          <p:nvPr/>
        </p:nvSpPr>
        <p:spPr>
          <a:xfrm>
            <a:off x="548640" y="411480"/>
            <a:ext cx="11094415" cy="1051560"/>
          </a:xfrm>
          <a:prstGeom prst="rect">
            <a:avLst/>
          </a:prstGeom>
          <a:noFill/>
        </p:spPr>
        <p:txBody>
          <a:bodyPr wrap="square" lIns="18288" tIns="18288" rIns="18288" bIns="18288" anchor="t">
            <a:spAutoFit/>
          </a:bodyPr>
          <a:lstStyle/>
          <a:p>
            <a:pPr algn="l">
              <a:lnSpc>
                <a:spcPct val="100000"/>
              </a:lnSpc>
              <a:spcAft>
                <a:spcPts val="600"/>
              </a:spcAft>
            </a:pPr>
            <a:r>
              <a:rPr sz="3000" b="1" i="0">
                <a:solidFill>
                  <a:srgbClr val="18202B"/>
                </a:solidFill>
                <a:latin typeface="Cambria"/>
              </a:rPr>
              <a:t>Three collections, each chosen to teach one thing</a:t>
            </a:r>
          </a:p>
        </p:txBody>
      </p:sp>
      <p:graphicFrame>
        <p:nvGraphicFramePr>
          <p:cNvPr id="4" name="Table 3"/>
          <p:cNvGraphicFramePr>
            <a:graphicFrameLocks noGrp="1"/>
          </p:cNvGraphicFramePr>
          <p:nvPr/>
        </p:nvGraphicFramePr>
        <p:xfrm>
          <a:off x="548640" y="1783080"/>
          <a:ext cx="11094415" cy="3172968"/>
        </p:xfrm>
        <a:graphic>
          <a:graphicData uri="http://schemas.openxmlformats.org/drawingml/2006/table">
            <a:tbl>
              <a:tblPr firstRow="1" bandRow="1">
                <a:tableStyleId>{5C22544A-7EE6-4342-B048-85BDC9FD1C3A}</a:tableStyleId>
              </a:tblPr>
              <a:tblGrid>
                <a:gridCol w="42976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5242255">
                  <a:extLst>
                    <a:ext uri="{9D8B030D-6E8A-4147-A177-3AD203B41FA5}">
                      <a16:colId xmlns:a16="http://schemas.microsoft.com/office/drawing/2014/main" val="20002"/>
                    </a:ext>
                  </a:extLst>
                </a:gridCol>
              </a:tblGrid>
              <a:tr h="566928">
                <a:tc>
                  <a:txBody>
                    <a:bodyPr/>
                    <a:lstStyle/>
                    <a:p>
                      <a:r>
                        <a:rPr sz="1400" b="1">
                          <a:solidFill>
                            <a:srgbClr val="FFFFFF"/>
                          </a:solidFill>
                          <a:latin typeface="Calibri"/>
                        </a:rPr>
                        <a:t>Collection</a:t>
                      </a:r>
                    </a:p>
                  </a:txBody>
                  <a:tcPr marL="137160" marR="137160" anchor="ctr">
                    <a:solidFill>
                      <a:srgbClr val="18202B"/>
                    </a:solidFill>
                  </a:tcPr>
                </a:tc>
                <a:tc>
                  <a:txBody>
                    <a:bodyPr/>
                    <a:lstStyle/>
                    <a:p>
                      <a:r>
                        <a:rPr sz="1400" b="1">
                          <a:solidFill>
                            <a:srgbClr val="FFFFFF"/>
                          </a:solidFill>
                          <a:latin typeface="Calibri"/>
                        </a:rPr>
                        <a:t>Matrix A</a:t>
                      </a:r>
                    </a:p>
                  </a:txBody>
                  <a:tcPr marL="137160" marR="137160" anchor="ctr">
                    <a:solidFill>
                      <a:srgbClr val="18202B"/>
                    </a:solidFill>
                  </a:tcPr>
                </a:tc>
                <a:tc>
                  <a:txBody>
                    <a:bodyPr/>
                    <a:lstStyle/>
                    <a:p>
                      <a:r>
                        <a:rPr sz="1400" b="1">
                          <a:solidFill>
                            <a:srgbClr val="FFFFFF"/>
                          </a:solidFill>
                          <a:latin typeface="Calibri"/>
                        </a:rPr>
                        <a:t>Why it is here</a:t>
                      </a:r>
                    </a:p>
                  </a:txBody>
                  <a:tcPr marL="137160" marR="137160" anchor="ctr">
                    <a:solidFill>
                      <a:srgbClr val="18202B"/>
                    </a:solidFill>
                  </a:tcPr>
                </a:tc>
                <a:extLst>
                  <a:ext uri="{0D108BD9-81ED-4DB2-BD59-A6C34878D82A}">
                    <a16:rowId xmlns:a16="http://schemas.microsoft.com/office/drawing/2014/main" val="10000"/>
                  </a:ext>
                </a:extLst>
              </a:tr>
              <a:tr h="868680">
                <a:tc>
                  <a:txBody>
                    <a:bodyPr/>
                    <a:lstStyle/>
                    <a:p>
                      <a:r>
                        <a:rPr sz="1500" b="0">
                          <a:solidFill>
                            <a:srgbClr val="18202B"/>
                          </a:solidFill>
                          <a:latin typeface="Calibri"/>
                        </a:rPr>
                        <a:t>Classic: 9 paper titles from the 1990 LSA paper</a:t>
                      </a:r>
                    </a:p>
                  </a:txBody>
                  <a:tcPr marL="137160" marR="137160" anchor="ctr">
                    <a:solidFill>
                      <a:srgbClr val="FFFFFF"/>
                    </a:solidFill>
                  </a:tcPr>
                </a:tc>
                <a:tc>
                  <a:txBody>
                    <a:bodyPr/>
                    <a:lstStyle/>
                    <a:p>
                      <a:r>
                        <a:rPr sz="1500" b="1">
                          <a:solidFill>
                            <a:srgbClr val="18202B"/>
                          </a:solidFill>
                          <a:latin typeface="Calibri"/>
                        </a:rPr>
                        <a:t>12 × 9</a:t>
                      </a:r>
                    </a:p>
                  </a:txBody>
                  <a:tcPr marL="137160" marR="137160" anchor="ctr">
                    <a:solidFill>
                      <a:srgbClr val="FFFFFF"/>
                    </a:solidFill>
                  </a:tcPr>
                </a:tc>
                <a:tc>
                  <a:txBody>
                    <a:bodyPr/>
                    <a:lstStyle/>
                    <a:p>
                      <a:r>
                        <a:rPr sz="1500" b="0">
                          <a:solidFill>
                            <a:srgbClr val="18202B"/>
                          </a:solidFill>
                          <a:latin typeface="Calibri"/>
                        </a:rPr>
                        <a:t>Small enough to read every number. Reproduces the paper's published results exactly.</a:t>
                      </a:r>
                    </a:p>
                  </a:txBody>
                  <a:tcPr marL="137160" marR="137160" anchor="ctr">
                    <a:solidFill>
                      <a:srgbClr val="FFFFFF"/>
                    </a:solidFill>
                  </a:tcPr>
                </a:tc>
                <a:extLst>
                  <a:ext uri="{0D108BD9-81ED-4DB2-BD59-A6C34878D82A}">
                    <a16:rowId xmlns:a16="http://schemas.microsoft.com/office/drawing/2014/main" val="10001"/>
                  </a:ext>
                </a:extLst>
              </a:tr>
              <a:tr h="868680">
                <a:tc>
                  <a:txBody>
                    <a:bodyPr/>
                    <a:lstStyle/>
                    <a:p>
                      <a:r>
                        <a:rPr sz="1500" b="0">
                          <a:solidFill>
                            <a:srgbClr val="18202B"/>
                          </a:solidFill>
                          <a:latin typeface="Calibri"/>
                        </a:rPr>
                        <a:t>Science: 24 one-sentence blurbs (our first version)</a:t>
                      </a:r>
                    </a:p>
                  </a:txBody>
                  <a:tcPr marL="137160" marR="137160" anchor="ctr">
                    <a:solidFill>
                      <a:srgbClr val="EEF2F5"/>
                    </a:solidFill>
                  </a:tcPr>
                </a:tc>
                <a:tc>
                  <a:txBody>
                    <a:bodyPr/>
                    <a:lstStyle/>
                    <a:p>
                      <a:r>
                        <a:rPr sz="1500" b="1">
                          <a:solidFill>
                            <a:srgbClr val="18202B"/>
                          </a:solidFill>
                          <a:latin typeface="Calibri"/>
                        </a:rPr>
                        <a:t>285 × 24</a:t>
                      </a:r>
                    </a:p>
                  </a:txBody>
                  <a:tcPr marL="137160" marR="137160" anchor="ctr">
                    <a:solidFill>
                      <a:srgbClr val="EEF2F5"/>
                    </a:solidFill>
                  </a:tcPr>
                </a:tc>
                <a:tc>
                  <a:txBody>
                    <a:bodyPr/>
                    <a:lstStyle/>
                    <a:p>
                      <a:r>
                        <a:rPr sz="1500" b="0">
                          <a:solidFill>
                            <a:srgbClr val="18202B"/>
                          </a:solidFill>
                          <a:latin typeface="Calibri"/>
                        </a:rPr>
                        <a:t>Shows when LSA has little to work with: almost no shared vocabulary.</a:t>
                      </a:r>
                    </a:p>
                  </a:txBody>
                  <a:tcPr marL="137160" marR="137160" anchor="ctr">
                    <a:solidFill>
                      <a:srgbClr val="EEF2F5"/>
                    </a:solidFill>
                  </a:tcPr>
                </a:tc>
                <a:extLst>
                  <a:ext uri="{0D108BD9-81ED-4DB2-BD59-A6C34878D82A}">
                    <a16:rowId xmlns:a16="http://schemas.microsoft.com/office/drawing/2014/main" val="10002"/>
                  </a:ext>
                </a:extLst>
              </a:tr>
              <a:tr h="868680">
                <a:tc>
                  <a:txBody>
                    <a:bodyPr/>
                    <a:lstStyle/>
                    <a:p>
                      <a:r>
                        <a:rPr sz="1500" b="0">
                          <a:solidFill>
                            <a:srgbClr val="18202B"/>
                          </a:solidFill>
                          <a:latin typeface="Calibri"/>
                        </a:rPr>
                        <a:t>News: 400 real AG News articles, 100 per section</a:t>
                      </a:r>
                    </a:p>
                  </a:txBody>
                  <a:tcPr marL="137160" marR="137160" anchor="ctr">
                    <a:solidFill>
                      <a:srgbClr val="FFFFFF"/>
                    </a:solidFill>
                  </a:tcPr>
                </a:tc>
                <a:tc>
                  <a:txBody>
                    <a:bodyPr/>
                    <a:lstStyle/>
                    <a:p>
                      <a:r>
                        <a:rPr sz="1500" b="1">
                          <a:solidFill>
                            <a:srgbClr val="18202B"/>
                          </a:solidFill>
                          <a:latin typeface="Calibri"/>
                        </a:rPr>
                        <a:t>1,404 × 400</a:t>
                      </a:r>
                    </a:p>
                  </a:txBody>
                  <a:tcPr marL="137160" marR="137160" anchor="ctr">
                    <a:solidFill>
                      <a:srgbClr val="FFFFFF"/>
                    </a:solidFill>
                  </a:tcPr>
                </a:tc>
                <a:tc>
                  <a:txBody>
                    <a:bodyPr/>
                    <a:lstStyle/>
                    <a:p>
                      <a:r>
                        <a:rPr sz="1500" b="0">
                          <a:solidFill>
                            <a:srgbClr val="18202B"/>
                          </a:solidFill>
                          <a:latin typeface="Calibri"/>
                        </a:rPr>
                        <a:t>Real, messy text. The main benchmark for clustering and search.</a:t>
                      </a:r>
                    </a:p>
                  </a:txBody>
                  <a:tcPr marL="137160" marR="137160"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548640" y="5440680"/>
            <a:ext cx="10972800" cy="731520"/>
          </a:xfrm>
          <a:prstGeom prst="rect">
            <a:avLst/>
          </a:prstGeom>
          <a:noFill/>
        </p:spPr>
        <p:txBody>
          <a:bodyPr wrap="square" lIns="18288" tIns="18288" rIns="18288" bIns="18288" anchor="t">
            <a:spAutoFit/>
          </a:bodyPr>
          <a:lstStyle/>
          <a:p>
            <a:pPr algn="l">
              <a:lnSpc>
                <a:spcPct val="112000"/>
              </a:lnSpc>
              <a:spcAft>
                <a:spcPts val="600"/>
              </a:spcAft>
            </a:pPr>
            <a:r>
              <a:rPr sz="1400" b="0" i="0">
                <a:solidFill>
                  <a:srgbClr val="4D5766"/>
                </a:solidFill>
                <a:latin typeface="Calibri"/>
              </a:rPr>
              <a:t>Every number in this deck is produced by one command, python main.py deck, and checked by the tests in tests/test_lsa.py.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728655" y="6400800"/>
            <a:ext cx="914400" cy="274320"/>
          </a:xfrm>
          <a:prstGeom prst="rect">
            <a:avLst/>
          </a:prstGeom>
          <a:noFill/>
        </p:spPr>
        <p:txBody>
          <a:bodyPr wrap="square" lIns="18288" tIns="18288" rIns="18288" bIns="18288" anchor="t">
            <a:spAutoFit/>
          </a:bodyPr>
          <a:lstStyle/>
          <a:p>
            <a:pPr algn="r">
              <a:lnSpc>
                <a:spcPct val="112000"/>
              </a:lnSpc>
              <a:spcAft>
                <a:spcPts val="600"/>
              </a:spcAft>
            </a:pPr>
            <a:r>
              <a:rPr sz="1100" b="0" i="0">
                <a:solidFill>
                  <a:srgbClr val="7A8494"/>
                </a:solidFill>
                <a:latin typeface="Calibri"/>
              </a:rPr>
              <a:t>5</a:t>
            </a:r>
          </a:p>
        </p:txBody>
      </p:sp>
      <p:sp>
        <p:nvSpPr>
          <p:cNvPr id="3" name="Rectangle 2"/>
          <p:cNvSpPr/>
          <p:nvPr/>
        </p:nvSpPr>
        <p:spPr>
          <a:xfrm>
            <a:off x="548640" y="6437376"/>
            <a:ext cx="137160" cy="137160"/>
          </a:xfrm>
          <a:prstGeom prst="rect">
            <a:avLst/>
          </a:prstGeom>
          <a:solidFill>
            <a:srgbClr val="2B4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49808"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50976"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353312"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64208" y="6373368"/>
            <a:ext cx="2743200" cy="274320"/>
          </a:xfrm>
          <a:prstGeom prst="rect">
            <a:avLst/>
          </a:prstGeom>
          <a:noFill/>
        </p:spPr>
        <p:txBody>
          <a:bodyPr wrap="square" lIns="18288" tIns="18288" rIns="18288" bIns="18288" anchor="t">
            <a:spAutoFit/>
          </a:bodyPr>
          <a:lstStyle/>
          <a:p>
            <a:pPr algn="l">
              <a:lnSpc>
                <a:spcPct val="112000"/>
              </a:lnSpc>
              <a:spcAft>
                <a:spcPts val="600"/>
              </a:spcAft>
            </a:pPr>
            <a:r>
              <a:rPr sz="1100" b="0" i="0">
                <a:solidFill>
                  <a:srgbClr val="7A8494"/>
                </a:solidFill>
                <a:latin typeface="Calibri"/>
              </a:rPr>
              <a:t>Step 1 of 5: Words</a:t>
            </a:r>
          </a:p>
        </p:txBody>
      </p:sp>
      <p:sp>
        <p:nvSpPr>
          <p:cNvPr id="9" name="TextBox 8"/>
          <p:cNvSpPr txBox="1"/>
          <p:nvPr/>
        </p:nvSpPr>
        <p:spPr>
          <a:xfrm>
            <a:off x="548640" y="411480"/>
            <a:ext cx="11094415" cy="1051560"/>
          </a:xfrm>
          <a:prstGeom prst="rect">
            <a:avLst/>
          </a:prstGeom>
          <a:noFill/>
        </p:spPr>
        <p:txBody>
          <a:bodyPr wrap="square" lIns="18288" tIns="18288" rIns="18288" bIns="18288" anchor="t">
            <a:spAutoFit/>
          </a:bodyPr>
          <a:lstStyle/>
          <a:p>
            <a:pPr algn="l">
              <a:lnSpc>
                <a:spcPct val="100000"/>
              </a:lnSpc>
              <a:spcAft>
                <a:spcPts val="600"/>
              </a:spcAft>
            </a:pPr>
            <a:r>
              <a:rPr sz="3000" b="1" i="0">
                <a:solidFill>
                  <a:srgbClr val="18202B"/>
                </a:solidFill>
                <a:latin typeface="Cambria"/>
              </a:rPr>
              <a:t>Documents become columns of a sparse term–document matrix A</a:t>
            </a:r>
          </a:p>
        </p:txBody>
      </p:sp>
      <p:pic>
        <p:nvPicPr>
          <p:cNvPr id="10" name="Picture 9" descr="classic_matrix.png"/>
          <p:cNvPicPr>
            <a:picLocks noChangeAspect="1"/>
          </p:cNvPicPr>
          <p:nvPr/>
        </p:nvPicPr>
        <p:blipFill>
          <a:blip r:embed="rId3"/>
          <a:stretch>
            <a:fillRect/>
          </a:stretch>
        </p:blipFill>
        <p:spPr>
          <a:xfrm>
            <a:off x="548640" y="1600200"/>
            <a:ext cx="4937760" cy="4156689"/>
          </a:xfrm>
          <a:prstGeom prst="rect">
            <a:avLst/>
          </a:prstGeom>
        </p:spPr>
      </p:pic>
      <p:sp>
        <p:nvSpPr>
          <p:cNvPr id="11" name="TextBox 10"/>
          <p:cNvSpPr txBox="1"/>
          <p:nvPr/>
        </p:nvSpPr>
        <p:spPr>
          <a:xfrm>
            <a:off x="6035040" y="1691640"/>
            <a:ext cx="5577840" cy="365760"/>
          </a:xfrm>
          <a:prstGeom prst="rect">
            <a:avLst/>
          </a:prstGeom>
          <a:noFill/>
        </p:spPr>
        <p:txBody>
          <a:bodyPr wrap="square" lIns="18288" tIns="18288" rIns="18288" bIns="18288" anchor="t">
            <a:spAutoFit/>
          </a:bodyPr>
          <a:lstStyle/>
          <a:p>
            <a:pPr algn="l">
              <a:lnSpc>
                <a:spcPct val="112000"/>
              </a:lnSpc>
              <a:spcAft>
                <a:spcPts val="600"/>
              </a:spcAft>
            </a:pPr>
            <a:r>
              <a:rPr sz="1600" b="0" i="0">
                <a:solidFill>
                  <a:srgbClr val="18202B"/>
                </a:solidFill>
                <a:latin typeface="Calibri"/>
              </a:rPr>
              <a:t>Each entry is the weight of word i in document j:</a:t>
            </a:r>
          </a:p>
        </p:txBody>
      </p:sp>
      <p:pic>
        <p:nvPicPr>
          <p:cNvPr id="12" name="Picture 11" descr="eq_996dcad1c181.png"/>
          <p:cNvPicPr>
            <a:picLocks noChangeAspect="1"/>
          </p:cNvPicPr>
          <p:nvPr/>
        </p:nvPicPr>
        <p:blipFill>
          <a:blip r:embed="rId4"/>
          <a:stretch>
            <a:fillRect/>
          </a:stretch>
        </p:blipFill>
        <p:spPr>
          <a:xfrm>
            <a:off x="6035040" y="2148840"/>
            <a:ext cx="4181856" cy="414528"/>
          </a:xfrm>
          <a:prstGeom prst="rect">
            <a:avLst/>
          </a:prstGeom>
        </p:spPr>
      </p:pic>
      <p:sp>
        <p:nvSpPr>
          <p:cNvPr id="13" name="TextBox 12"/>
          <p:cNvSpPr txBox="1"/>
          <p:nvPr/>
        </p:nvSpPr>
        <p:spPr>
          <a:xfrm>
            <a:off x="6035040" y="3154680"/>
            <a:ext cx="5577840" cy="1463040"/>
          </a:xfrm>
          <a:prstGeom prst="rect">
            <a:avLst/>
          </a:prstGeom>
          <a:noFill/>
        </p:spPr>
        <p:txBody>
          <a:bodyPr wrap="square" lIns="18288" tIns="18288" rIns="18288" bIns="18288" anchor="t">
            <a:spAutoFit/>
          </a:bodyPr>
          <a:lstStyle/>
          <a:p>
            <a:pPr marL="256032" indent="-201168" algn="l">
              <a:lnSpc>
                <a:spcPct val="112000"/>
              </a:lnSpc>
              <a:spcAft>
                <a:spcPts val="400"/>
              </a:spcAft>
              <a:buChar char="•"/>
            </a:pPr>
            <a:r>
              <a:rPr sz="1500" b="0" i="0">
                <a:solidFill>
                  <a:srgbClr val="4D5766"/>
                </a:solidFill>
                <a:latin typeface="Calibri"/>
              </a:rPr>
              <a:t>Frequent in this document: larger tf.</a:t>
            </a:r>
          </a:p>
          <a:p>
            <a:pPr marL="256032" indent="-201168" algn="l">
              <a:lnSpc>
                <a:spcPct val="112000"/>
              </a:lnSpc>
              <a:spcAft>
                <a:spcPts val="400"/>
              </a:spcAft>
              <a:buChar char="•"/>
            </a:pPr>
            <a:r>
              <a:rPr sz="1500" b="0" i="0">
                <a:solidFill>
                  <a:srgbClr val="4D5766"/>
                </a:solidFill>
                <a:latin typeface="Calibri"/>
              </a:rPr>
              <a:t>Rare in the collection: larger idf.</a:t>
            </a:r>
          </a:p>
          <a:p>
            <a:pPr marL="256032" indent="-201168" algn="l">
              <a:lnSpc>
                <a:spcPct val="112000"/>
              </a:lnSpc>
              <a:spcAft>
                <a:spcPts val="400"/>
              </a:spcAft>
              <a:buChar char="•"/>
            </a:pPr>
            <a:r>
              <a:rPr sz="1500" b="0" i="0">
                <a:solidFill>
                  <a:srgbClr val="4D5766"/>
                </a:solidFill>
                <a:latin typeface="Calibri"/>
              </a:rPr>
              <a:t>Every column scaled to length 1, so long and short articles are comparable.</a:t>
            </a:r>
          </a:p>
        </p:txBody>
      </p:sp>
      <p:sp>
        <p:nvSpPr>
          <p:cNvPr id="14" name="TextBox 13"/>
          <p:cNvSpPr txBox="1"/>
          <p:nvPr/>
        </p:nvSpPr>
        <p:spPr>
          <a:xfrm>
            <a:off x="6035040" y="4572000"/>
            <a:ext cx="2651760" cy="731520"/>
          </a:xfrm>
          <a:prstGeom prst="rect">
            <a:avLst/>
          </a:prstGeom>
          <a:noFill/>
        </p:spPr>
        <p:txBody>
          <a:bodyPr wrap="square" lIns="18288" tIns="18288" rIns="18288" bIns="18288" anchor="t">
            <a:spAutoFit/>
          </a:bodyPr>
          <a:lstStyle/>
          <a:p>
            <a:pPr algn="l">
              <a:lnSpc>
                <a:spcPct val="100000"/>
              </a:lnSpc>
              <a:spcAft>
                <a:spcPts val="0"/>
              </a:spcAft>
            </a:pPr>
            <a:r>
              <a:rPr sz="4000" b="1" i="0">
                <a:solidFill>
                  <a:srgbClr val="2B4C7E"/>
                </a:solidFill>
                <a:latin typeface="Cambria"/>
              </a:rPr>
              <a:t>99.0%</a:t>
            </a:r>
          </a:p>
        </p:txBody>
      </p:sp>
      <p:sp>
        <p:nvSpPr>
          <p:cNvPr id="15" name="TextBox 14"/>
          <p:cNvSpPr txBox="1"/>
          <p:nvPr/>
        </p:nvSpPr>
        <p:spPr>
          <a:xfrm>
            <a:off x="6035040" y="5171440"/>
            <a:ext cx="2651760" cy="822960"/>
          </a:xfrm>
          <a:prstGeom prst="rect">
            <a:avLst/>
          </a:prstGeom>
          <a:noFill/>
        </p:spPr>
        <p:txBody>
          <a:bodyPr wrap="square" lIns="18288" tIns="18288" rIns="18288" bIns="18288" anchor="t">
            <a:spAutoFit/>
          </a:bodyPr>
          <a:lstStyle/>
          <a:p>
            <a:pPr algn="l">
              <a:lnSpc>
                <a:spcPct val="112000"/>
              </a:lnSpc>
              <a:spcAft>
                <a:spcPts val="0"/>
              </a:spcAft>
            </a:pPr>
            <a:r>
              <a:rPr sz="1400" b="0" i="0">
                <a:solidFill>
                  <a:srgbClr val="4D5766"/>
                </a:solidFill>
                <a:latin typeface="Calibri"/>
              </a:rPr>
              <a:t>of the 1,404 × 400 news matrix is zero</a:t>
            </a:r>
          </a:p>
        </p:txBody>
      </p:sp>
      <p:sp>
        <p:nvSpPr>
          <p:cNvPr id="16" name="TextBox 15"/>
          <p:cNvSpPr txBox="1"/>
          <p:nvPr/>
        </p:nvSpPr>
        <p:spPr>
          <a:xfrm>
            <a:off x="8961120" y="4572000"/>
            <a:ext cx="2651760" cy="731520"/>
          </a:xfrm>
          <a:prstGeom prst="rect">
            <a:avLst/>
          </a:prstGeom>
          <a:noFill/>
        </p:spPr>
        <p:txBody>
          <a:bodyPr wrap="square" lIns="18288" tIns="18288" rIns="18288" bIns="18288" anchor="t">
            <a:spAutoFit/>
          </a:bodyPr>
          <a:lstStyle/>
          <a:p>
            <a:pPr algn="l">
              <a:lnSpc>
                <a:spcPct val="100000"/>
              </a:lnSpc>
              <a:spcAft>
                <a:spcPts val="0"/>
              </a:spcAft>
            </a:pPr>
            <a:r>
              <a:rPr sz="4000" b="1" i="0">
                <a:solidFill>
                  <a:srgbClr val="2B4C7E"/>
                </a:solidFill>
                <a:latin typeface="Cambria"/>
              </a:rPr>
              <a:t>72%</a:t>
            </a:r>
          </a:p>
        </p:txBody>
      </p:sp>
      <p:sp>
        <p:nvSpPr>
          <p:cNvPr id="17" name="TextBox 16"/>
          <p:cNvSpPr txBox="1"/>
          <p:nvPr/>
        </p:nvSpPr>
        <p:spPr>
          <a:xfrm>
            <a:off x="8961120" y="5171440"/>
            <a:ext cx="2651760" cy="822960"/>
          </a:xfrm>
          <a:prstGeom prst="rect">
            <a:avLst/>
          </a:prstGeom>
          <a:noFill/>
        </p:spPr>
        <p:txBody>
          <a:bodyPr wrap="square" lIns="18288" tIns="18288" rIns="18288" bIns="18288" anchor="t">
            <a:spAutoFit/>
          </a:bodyPr>
          <a:lstStyle/>
          <a:p>
            <a:pPr algn="l">
              <a:lnSpc>
                <a:spcPct val="112000"/>
              </a:lnSpc>
              <a:spcAft>
                <a:spcPts val="0"/>
              </a:spcAft>
            </a:pPr>
            <a:r>
              <a:rPr sz="1400" b="0" i="0">
                <a:solidFill>
                  <a:srgbClr val="4D5766"/>
                </a:solidFill>
                <a:latin typeface="Calibri"/>
              </a:rPr>
              <a:t>of same-section article pairs share no word at all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728655" y="6400800"/>
            <a:ext cx="914400" cy="274320"/>
          </a:xfrm>
          <a:prstGeom prst="rect">
            <a:avLst/>
          </a:prstGeom>
          <a:noFill/>
        </p:spPr>
        <p:txBody>
          <a:bodyPr wrap="square" lIns="18288" tIns="18288" rIns="18288" bIns="18288" anchor="t">
            <a:spAutoFit/>
          </a:bodyPr>
          <a:lstStyle/>
          <a:p>
            <a:pPr algn="r">
              <a:lnSpc>
                <a:spcPct val="112000"/>
              </a:lnSpc>
              <a:spcAft>
                <a:spcPts val="600"/>
              </a:spcAft>
            </a:pPr>
            <a:r>
              <a:rPr sz="1100" b="0" i="0">
                <a:solidFill>
                  <a:srgbClr val="7A8494"/>
                </a:solidFill>
                <a:latin typeface="Calibri"/>
              </a:rPr>
              <a:t>6</a:t>
            </a:r>
          </a:p>
        </p:txBody>
      </p:sp>
      <p:sp>
        <p:nvSpPr>
          <p:cNvPr id="3" name="Rectangle 2"/>
          <p:cNvSpPr/>
          <p:nvPr/>
        </p:nvSpPr>
        <p:spPr>
          <a:xfrm>
            <a:off x="548640"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49808" y="6437376"/>
            <a:ext cx="137160" cy="137160"/>
          </a:xfrm>
          <a:prstGeom prst="rect">
            <a:avLst/>
          </a:prstGeom>
          <a:solidFill>
            <a:srgbClr val="0F7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50976"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353312"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64208" y="6373368"/>
            <a:ext cx="2743200" cy="274320"/>
          </a:xfrm>
          <a:prstGeom prst="rect">
            <a:avLst/>
          </a:prstGeom>
          <a:noFill/>
        </p:spPr>
        <p:txBody>
          <a:bodyPr wrap="square" lIns="18288" tIns="18288" rIns="18288" bIns="18288" anchor="t">
            <a:spAutoFit/>
          </a:bodyPr>
          <a:lstStyle/>
          <a:p>
            <a:pPr algn="l">
              <a:lnSpc>
                <a:spcPct val="112000"/>
              </a:lnSpc>
              <a:spcAft>
                <a:spcPts val="600"/>
              </a:spcAft>
            </a:pPr>
            <a:r>
              <a:rPr sz="1100" b="0" i="0">
                <a:solidFill>
                  <a:srgbClr val="7A8494"/>
                </a:solidFill>
                <a:latin typeface="Calibri"/>
              </a:rPr>
              <a:t>Step 2 of 5: SVD</a:t>
            </a:r>
          </a:p>
        </p:txBody>
      </p:sp>
      <p:sp>
        <p:nvSpPr>
          <p:cNvPr id="9" name="TextBox 8"/>
          <p:cNvSpPr txBox="1"/>
          <p:nvPr/>
        </p:nvSpPr>
        <p:spPr>
          <a:xfrm>
            <a:off x="548640" y="411480"/>
            <a:ext cx="11094415" cy="1051560"/>
          </a:xfrm>
          <a:prstGeom prst="rect">
            <a:avLst/>
          </a:prstGeom>
          <a:noFill/>
        </p:spPr>
        <p:txBody>
          <a:bodyPr wrap="square" lIns="18288" tIns="18288" rIns="18288" bIns="18288" anchor="t">
            <a:spAutoFit/>
          </a:bodyPr>
          <a:lstStyle/>
          <a:p>
            <a:pPr algn="l">
              <a:lnSpc>
                <a:spcPct val="100000"/>
              </a:lnSpc>
              <a:spcAft>
                <a:spcPts val="600"/>
              </a:spcAft>
            </a:pPr>
            <a:r>
              <a:rPr sz="3000" b="1" i="0">
                <a:solidFill>
                  <a:srgbClr val="18202B"/>
                </a:solidFill>
                <a:latin typeface="Cambria"/>
              </a:rPr>
              <a:t>The SVD splits A into word concepts, strengths and document concepts</a:t>
            </a:r>
          </a:p>
        </p:txBody>
      </p:sp>
      <p:sp>
        <p:nvSpPr>
          <p:cNvPr id="10" name="Rectangle 9"/>
          <p:cNvSpPr/>
          <p:nvPr/>
        </p:nvSpPr>
        <p:spPr>
          <a:xfrm>
            <a:off x="640080" y="1783080"/>
            <a:ext cx="1554480" cy="2103120"/>
          </a:xfrm>
          <a:prstGeom prst="rect">
            <a:avLst/>
          </a:prstGeom>
          <a:solidFill>
            <a:srgbClr val="2B4C7E"/>
          </a:solidFill>
          <a:ln>
            <a:noFill/>
          </a:ln>
          <a:effectLst/>
        </p:spPr>
        <p:style>
          <a:lnRef idx="1">
            <a:schemeClr val="accent1"/>
          </a:lnRef>
          <a:fillRef idx="3">
            <a:schemeClr val="accent1"/>
          </a:fillRef>
          <a:effectRef idx="0">
            <a:schemeClr val="accent1"/>
          </a:effectRef>
          <a:fontRef idx="minor">
            <a:schemeClr val="lt1"/>
          </a:fontRef>
        </p:style>
        <p:txBody>
          <a:bodyPr lIns="0" rIns="0" rtlCol="0" anchor="ctr"/>
          <a:lstStyle/>
          <a:p>
            <a:pPr algn="ctr"/>
            <a:r>
              <a:rPr sz="2600" b="1">
                <a:solidFill>
                  <a:srgbClr val="FFFFFF"/>
                </a:solidFill>
                <a:latin typeface="Cambria"/>
              </a:rPr>
              <a:t>A</a:t>
            </a:r>
          </a:p>
        </p:txBody>
      </p:sp>
      <p:sp>
        <p:nvSpPr>
          <p:cNvPr id="11" name="TextBox 10"/>
          <p:cNvSpPr txBox="1"/>
          <p:nvPr/>
        </p:nvSpPr>
        <p:spPr>
          <a:xfrm>
            <a:off x="457199" y="3959352"/>
            <a:ext cx="1920240" cy="320040"/>
          </a:xfrm>
          <a:prstGeom prst="rect">
            <a:avLst/>
          </a:prstGeom>
          <a:noFill/>
        </p:spPr>
        <p:txBody>
          <a:bodyPr wrap="square" lIns="18288" tIns="18288" rIns="18288" bIns="18288" anchor="t">
            <a:spAutoFit/>
          </a:bodyPr>
          <a:lstStyle/>
          <a:p>
            <a:pPr algn="ctr">
              <a:lnSpc>
                <a:spcPct val="112000"/>
              </a:lnSpc>
              <a:spcAft>
                <a:spcPts val="600"/>
              </a:spcAft>
            </a:pPr>
            <a:r>
              <a:rPr sz="1200" b="0" i="0">
                <a:solidFill>
                  <a:srgbClr val="4D5766"/>
                </a:solidFill>
                <a:latin typeface="Calibri"/>
              </a:rPr>
              <a:t>1,404 × 400</a:t>
            </a:r>
          </a:p>
        </p:txBody>
      </p:sp>
      <p:sp>
        <p:nvSpPr>
          <p:cNvPr id="12" name="TextBox 11"/>
          <p:cNvSpPr txBox="1"/>
          <p:nvPr/>
        </p:nvSpPr>
        <p:spPr>
          <a:xfrm>
            <a:off x="2194560" y="2560320"/>
            <a:ext cx="502920" cy="548640"/>
          </a:xfrm>
          <a:prstGeom prst="rect">
            <a:avLst/>
          </a:prstGeom>
          <a:noFill/>
        </p:spPr>
        <p:txBody>
          <a:bodyPr wrap="square" lIns="18288" tIns="18288" rIns="18288" bIns="18288" anchor="t">
            <a:spAutoFit/>
          </a:bodyPr>
          <a:lstStyle/>
          <a:p>
            <a:pPr algn="ctr">
              <a:lnSpc>
                <a:spcPct val="112000"/>
              </a:lnSpc>
              <a:spcAft>
                <a:spcPts val="600"/>
              </a:spcAft>
            </a:pPr>
            <a:r>
              <a:rPr sz="3000" b="0" i="0">
                <a:solidFill>
                  <a:srgbClr val="7A8494"/>
                </a:solidFill>
                <a:latin typeface="Cambria"/>
              </a:rPr>
              <a:t>=</a:t>
            </a:r>
          </a:p>
        </p:txBody>
      </p:sp>
      <p:sp>
        <p:nvSpPr>
          <p:cNvPr id="13" name="Rectangle 12"/>
          <p:cNvSpPr/>
          <p:nvPr/>
        </p:nvSpPr>
        <p:spPr>
          <a:xfrm>
            <a:off x="2697480" y="1783080"/>
            <a:ext cx="868680" cy="2103120"/>
          </a:xfrm>
          <a:prstGeom prst="rect">
            <a:avLst/>
          </a:prstGeom>
          <a:solidFill>
            <a:srgbClr val="0F7A80"/>
          </a:solidFill>
          <a:ln>
            <a:noFill/>
          </a:ln>
          <a:effectLst/>
        </p:spPr>
        <p:style>
          <a:lnRef idx="1">
            <a:schemeClr val="accent1"/>
          </a:lnRef>
          <a:fillRef idx="3">
            <a:schemeClr val="accent1"/>
          </a:fillRef>
          <a:effectRef idx="0">
            <a:schemeClr val="accent1"/>
          </a:effectRef>
          <a:fontRef idx="minor">
            <a:schemeClr val="lt1"/>
          </a:fontRef>
        </p:style>
        <p:txBody>
          <a:bodyPr lIns="0" rIns="0" rtlCol="0" anchor="ctr"/>
          <a:lstStyle/>
          <a:p>
            <a:pPr algn="ctr"/>
            <a:r>
              <a:rPr sz="2600" b="1">
                <a:solidFill>
                  <a:srgbClr val="FFFFFF"/>
                </a:solidFill>
                <a:latin typeface="Cambria"/>
              </a:rPr>
              <a:t>U</a:t>
            </a:r>
          </a:p>
        </p:txBody>
      </p:sp>
      <p:sp>
        <p:nvSpPr>
          <p:cNvPr id="14" name="TextBox 13"/>
          <p:cNvSpPr txBox="1"/>
          <p:nvPr/>
        </p:nvSpPr>
        <p:spPr>
          <a:xfrm>
            <a:off x="2514600" y="3959352"/>
            <a:ext cx="1234440" cy="320040"/>
          </a:xfrm>
          <a:prstGeom prst="rect">
            <a:avLst/>
          </a:prstGeom>
          <a:noFill/>
        </p:spPr>
        <p:txBody>
          <a:bodyPr wrap="square" lIns="18288" tIns="18288" rIns="18288" bIns="18288" anchor="t">
            <a:spAutoFit/>
          </a:bodyPr>
          <a:lstStyle/>
          <a:p>
            <a:pPr algn="ctr">
              <a:lnSpc>
                <a:spcPct val="112000"/>
              </a:lnSpc>
              <a:spcAft>
                <a:spcPts val="600"/>
              </a:spcAft>
            </a:pPr>
            <a:r>
              <a:rPr sz="1200" b="0" i="0">
                <a:solidFill>
                  <a:srgbClr val="4D5766"/>
                </a:solidFill>
                <a:latin typeface="Calibri"/>
              </a:rPr>
              <a:t>1,404 × r</a:t>
            </a:r>
          </a:p>
        </p:txBody>
      </p:sp>
      <p:sp>
        <p:nvSpPr>
          <p:cNvPr id="15" name="TextBox 14"/>
          <p:cNvSpPr txBox="1"/>
          <p:nvPr/>
        </p:nvSpPr>
        <p:spPr>
          <a:xfrm>
            <a:off x="3566160" y="1965960"/>
            <a:ext cx="365760" cy="548640"/>
          </a:xfrm>
          <a:prstGeom prst="rect">
            <a:avLst/>
          </a:prstGeom>
          <a:noFill/>
        </p:spPr>
        <p:txBody>
          <a:bodyPr wrap="square" lIns="18288" tIns="18288" rIns="18288" bIns="18288" anchor="t">
            <a:spAutoFit/>
          </a:bodyPr>
          <a:lstStyle/>
          <a:p>
            <a:pPr algn="ctr">
              <a:lnSpc>
                <a:spcPct val="112000"/>
              </a:lnSpc>
              <a:spcAft>
                <a:spcPts val="600"/>
              </a:spcAft>
            </a:pPr>
            <a:r>
              <a:rPr sz="3000" b="0" i="0">
                <a:solidFill>
                  <a:srgbClr val="7A8494"/>
                </a:solidFill>
                <a:latin typeface="Cambria"/>
              </a:rPr>
              <a:t>·</a:t>
            </a:r>
          </a:p>
        </p:txBody>
      </p:sp>
      <p:sp>
        <p:nvSpPr>
          <p:cNvPr id="16" name="Rectangle 15"/>
          <p:cNvSpPr/>
          <p:nvPr/>
        </p:nvSpPr>
        <p:spPr>
          <a:xfrm>
            <a:off x="3931920" y="1783080"/>
            <a:ext cx="868680" cy="868680"/>
          </a:xfrm>
          <a:prstGeom prst="rect">
            <a:avLst/>
          </a:prstGeom>
          <a:solidFill>
            <a:srgbClr val="B07A10"/>
          </a:solidFill>
          <a:ln>
            <a:noFill/>
          </a:ln>
          <a:effectLst/>
        </p:spPr>
        <p:style>
          <a:lnRef idx="1">
            <a:schemeClr val="accent1"/>
          </a:lnRef>
          <a:fillRef idx="3">
            <a:schemeClr val="accent1"/>
          </a:fillRef>
          <a:effectRef idx="0">
            <a:schemeClr val="accent1"/>
          </a:effectRef>
          <a:fontRef idx="minor">
            <a:schemeClr val="lt1"/>
          </a:fontRef>
        </p:style>
        <p:txBody>
          <a:bodyPr lIns="0" rIns="0" rtlCol="0" anchor="ctr"/>
          <a:lstStyle/>
          <a:p>
            <a:pPr algn="ctr"/>
            <a:r>
              <a:rPr sz="2600" b="1">
                <a:solidFill>
                  <a:srgbClr val="FFFFFF"/>
                </a:solidFill>
                <a:latin typeface="Cambria"/>
              </a:rPr>
              <a:t>Σ</a:t>
            </a:r>
          </a:p>
        </p:txBody>
      </p:sp>
      <p:sp>
        <p:nvSpPr>
          <p:cNvPr id="17" name="TextBox 16"/>
          <p:cNvSpPr txBox="1"/>
          <p:nvPr/>
        </p:nvSpPr>
        <p:spPr>
          <a:xfrm>
            <a:off x="3749040" y="2724912"/>
            <a:ext cx="1234440" cy="320040"/>
          </a:xfrm>
          <a:prstGeom prst="rect">
            <a:avLst/>
          </a:prstGeom>
          <a:noFill/>
        </p:spPr>
        <p:txBody>
          <a:bodyPr wrap="square" lIns="18288" tIns="18288" rIns="18288" bIns="18288" anchor="t">
            <a:spAutoFit/>
          </a:bodyPr>
          <a:lstStyle/>
          <a:p>
            <a:pPr algn="ctr">
              <a:lnSpc>
                <a:spcPct val="112000"/>
              </a:lnSpc>
              <a:spcAft>
                <a:spcPts val="600"/>
              </a:spcAft>
            </a:pPr>
            <a:r>
              <a:rPr sz="1200" b="0" i="0">
                <a:solidFill>
                  <a:srgbClr val="4D5766"/>
                </a:solidFill>
                <a:latin typeface="Calibri"/>
              </a:rPr>
              <a:t>r × r</a:t>
            </a:r>
          </a:p>
        </p:txBody>
      </p:sp>
      <p:sp>
        <p:nvSpPr>
          <p:cNvPr id="18" name="TextBox 17"/>
          <p:cNvSpPr txBox="1"/>
          <p:nvPr/>
        </p:nvSpPr>
        <p:spPr>
          <a:xfrm>
            <a:off x="4800600" y="1965960"/>
            <a:ext cx="365760" cy="548640"/>
          </a:xfrm>
          <a:prstGeom prst="rect">
            <a:avLst/>
          </a:prstGeom>
          <a:noFill/>
        </p:spPr>
        <p:txBody>
          <a:bodyPr wrap="square" lIns="18288" tIns="18288" rIns="18288" bIns="18288" anchor="t">
            <a:spAutoFit/>
          </a:bodyPr>
          <a:lstStyle/>
          <a:p>
            <a:pPr algn="ctr">
              <a:lnSpc>
                <a:spcPct val="112000"/>
              </a:lnSpc>
              <a:spcAft>
                <a:spcPts val="600"/>
              </a:spcAft>
            </a:pPr>
            <a:r>
              <a:rPr sz="3000" b="0" i="0">
                <a:solidFill>
                  <a:srgbClr val="7A8494"/>
                </a:solidFill>
                <a:latin typeface="Cambria"/>
              </a:rPr>
              <a:t>·</a:t>
            </a:r>
          </a:p>
        </p:txBody>
      </p:sp>
      <p:sp>
        <p:nvSpPr>
          <p:cNvPr id="19" name="Rectangle 18"/>
          <p:cNvSpPr/>
          <p:nvPr/>
        </p:nvSpPr>
        <p:spPr>
          <a:xfrm>
            <a:off x="5166360" y="1783080"/>
            <a:ext cx="1554480" cy="868680"/>
          </a:xfrm>
          <a:prstGeom prst="rect">
            <a:avLst/>
          </a:prstGeom>
          <a:solidFill>
            <a:srgbClr val="6A4FC4"/>
          </a:solidFill>
          <a:ln>
            <a:noFill/>
          </a:ln>
          <a:effectLst/>
        </p:spPr>
        <p:style>
          <a:lnRef idx="1">
            <a:schemeClr val="accent1"/>
          </a:lnRef>
          <a:fillRef idx="3">
            <a:schemeClr val="accent1"/>
          </a:fillRef>
          <a:effectRef idx="0">
            <a:schemeClr val="accent1"/>
          </a:effectRef>
          <a:fontRef idx="minor">
            <a:schemeClr val="lt1"/>
          </a:fontRef>
        </p:style>
        <p:txBody>
          <a:bodyPr lIns="0" rIns="0" rtlCol="0" anchor="ctr"/>
          <a:lstStyle/>
          <a:p>
            <a:pPr algn="ctr"/>
            <a:r>
              <a:rPr sz="2600" b="1">
                <a:solidFill>
                  <a:srgbClr val="FFFFFF"/>
                </a:solidFill>
                <a:latin typeface="Cambria"/>
              </a:rPr>
              <a:t>V</a:t>
            </a:r>
            <a:r>
              <a:rPr sz="2600" b="1" baseline="30000">
                <a:solidFill>
                  <a:srgbClr val="FFFFFF"/>
                </a:solidFill>
                <a:latin typeface="Cambria"/>
              </a:rPr>
              <a:t>T</a:t>
            </a:r>
          </a:p>
        </p:txBody>
      </p:sp>
      <p:sp>
        <p:nvSpPr>
          <p:cNvPr id="20" name="TextBox 19"/>
          <p:cNvSpPr txBox="1"/>
          <p:nvPr/>
        </p:nvSpPr>
        <p:spPr>
          <a:xfrm>
            <a:off x="4983480" y="2724912"/>
            <a:ext cx="1920240" cy="320040"/>
          </a:xfrm>
          <a:prstGeom prst="rect">
            <a:avLst/>
          </a:prstGeom>
          <a:noFill/>
        </p:spPr>
        <p:txBody>
          <a:bodyPr wrap="square" lIns="18288" tIns="18288" rIns="18288" bIns="18288" anchor="t">
            <a:spAutoFit/>
          </a:bodyPr>
          <a:lstStyle/>
          <a:p>
            <a:pPr algn="ctr">
              <a:lnSpc>
                <a:spcPct val="112000"/>
              </a:lnSpc>
              <a:spcAft>
                <a:spcPts val="600"/>
              </a:spcAft>
            </a:pPr>
            <a:r>
              <a:rPr sz="1200" b="0" i="0">
                <a:solidFill>
                  <a:srgbClr val="4D5766"/>
                </a:solidFill>
                <a:latin typeface="Calibri"/>
              </a:rPr>
              <a:t>r × 400</a:t>
            </a:r>
          </a:p>
        </p:txBody>
      </p:sp>
      <p:sp>
        <p:nvSpPr>
          <p:cNvPr id="21" name="TextBox 20"/>
          <p:cNvSpPr txBox="1"/>
          <p:nvPr/>
        </p:nvSpPr>
        <p:spPr>
          <a:xfrm>
            <a:off x="7223760" y="1737360"/>
            <a:ext cx="4419295" cy="2926080"/>
          </a:xfrm>
          <a:prstGeom prst="rect">
            <a:avLst/>
          </a:prstGeom>
          <a:noFill/>
        </p:spPr>
        <p:txBody>
          <a:bodyPr wrap="square" lIns="18288" tIns="18288" rIns="18288" bIns="18288" anchor="t">
            <a:spAutoFit/>
          </a:bodyPr>
          <a:lstStyle/>
          <a:p>
            <a:pPr algn="l">
              <a:lnSpc>
                <a:spcPct val="112000"/>
              </a:lnSpc>
              <a:spcAft>
                <a:spcPts val="1200"/>
              </a:spcAft>
            </a:pPr>
            <a:r>
              <a:rPr sz="1600" b="1" i="0">
                <a:solidFill>
                  <a:srgbClr val="0F7A80"/>
                </a:solidFill>
                <a:latin typeface="Calibri"/>
              </a:rPr>
              <a:t>U: </a:t>
            </a:r>
            <a:r>
              <a:rPr sz="1600" b="0" i="0">
                <a:solidFill>
                  <a:srgbClr val="18202B"/>
                </a:solidFill>
                <a:latin typeface="Calibri"/>
              </a:rPr>
              <a:t>each column is a concept written as word weights. Orthonormal: UᵀU = I.</a:t>
            </a:r>
          </a:p>
          <a:p>
            <a:pPr algn="l">
              <a:lnSpc>
                <a:spcPct val="112000"/>
              </a:lnSpc>
              <a:spcAft>
                <a:spcPts val="1200"/>
              </a:spcAft>
            </a:pPr>
            <a:r>
              <a:rPr sz="1600" b="1" i="0">
                <a:solidFill>
                  <a:srgbClr val="B07A10"/>
                </a:solidFill>
                <a:latin typeface="Calibri"/>
              </a:rPr>
              <a:t>Σ: </a:t>
            </a:r>
            <a:r>
              <a:rPr sz="1600" b="0" i="0">
                <a:solidFill>
                  <a:srgbClr val="18202B"/>
                </a:solidFill>
                <a:latin typeface="Calibri"/>
              </a:rPr>
              <a:t>singular values σ₁ ≥ σ₂ ≥ … ≥ 0, how much of A each concept explains.</a:t>
            </a:r>
          </a:p>
          <a:p>
            <a:pPr algn="l">
              <a:lnSpc>
                <a:spcPct val="112000"/>
              </a:lnSpc>
              <a:spcAft>
                <a:spcPts val="1200"/>
              </a:spcAft>
            </a:pPr>
            <a:r>
              <a:rPr sz="1600" b="1" i="0">
                <a:solidFill>
                  <a:srgbClr val="6A4FC4"/>
                </a:solidFill>
                <a:latin typeface="Calibri"/>
              </a:rPr>
              <a:t>V: </a:t>
            </a:r>
            <a:r>
              <a:rPr sz="1600" b="0" i="0">
                <a:solidFill>
                  <a:srgbClr val="18202B"/>
                </a:solidFill>
                <a:latin typeface="Calibri"/>
              </a:rPr>
              <a:t>row j says how strongly document j uses each concept. Orthonormal: VᵀV = I.</a:t>
            </a:r>
          </a:p>
        </p:txBody>
      </p:sp>
      <p:sp>
        <p:nvSpPr>
          <p:cNvPr id="22" name="TextBox 21"/>
          <p:cNvSpPr txBox="1"/>
          <p:nvPr/>
        </p:nvSpPr>
        <p:spPr>
          <a:xfrm>
            <a:off x="548640" y="4526280"/>
            <a:ext cx="5486400" cy="365760"/>
          </a:xfrm>
          <a:prstGeom prst="rect">
            <a:avLst/>
          </a:prstGeom>
          <a:noFill/>
        </p:spPr>
        <p:txBody>
          <a:bodyPr wrap="square" lIns="18288" tIns="18288" rIns="18288" bIns="18288" anchor="t">
            <a:spAutoFit/>
          </a:bodyPr>
          <a:lstStyle/>
          <a:p>
            <a:pPr algn="l">
              <a:lnSpc>
                <a:spcPct val="112000"/>
              </a:lnSpc>
              <a:spcAft>
                <a:spcPts val="600"/>
              </a:spcAft>
            </a:pPr>
            <a:r>
              <a:rPr sz="1600" b="0" i="0">
                <a:solidFill>
                  <a:srgbClr val="18202B"/>
                </a:solidFill>
                <a:latin typeface="Calibri"/>
              </a:rPr>
              <a:t>Why these are the right directions:</a:t>
            </a:r>
          </a:p>
        </p:txBody>
      </p:sp>
      <p:pic>
        <p:nvPicPr>
          <p:cNvPr id="23" name="Picture 22" descr="eq_dee2c8d51ed2.png"/>
          <p:cNvPicPr>
            <a:picLocks noChangeAspect="1"/>
          </p:cNvPicPr>
          <p:nvPr/>
        </p:nvPicPr>
        <p:blipFill>
          <a:blip r:embed="rId3"/>
          <a:stretch>
            <a:fillRect/>
          </a:stretch>
        </p:blipFill>
        <p:spPr>
          <a:xfrm>
            <a:off x="548640" y="4983480"/>
            <a:ext cx="5370576" cy="338328"/>
          </a:xfrm>
          <a:prstGeom prst="rect">
            <a:avLst/>
          </a:prstGeom>
        </p:spPr>
      </p:pic>
      <p:sp>
        <p:nvSpPr>
          <p:cNvPr id="24" name="TextBox 23"/>
          <p:cNvSpPr txBox="1"/>
          <p:nvPr/>
        </p:nvSpPr>
        <p:spPr>
          <a:xfrm>
            <a:off x="7223760" y="4526280"/>
            <a:ext cx="4419295" cy="1645920"/>
          </a:xfrm>
          <a:prstGeom prst="rect">
            <a:avLst/>
          </a:prstGeom>
          <a:noFill/>
        </p:spPr>
        <p:txBody>
          <a:bodyPr wrap="square" lIns="18288" tIns="18288" rIns="18288" bIns="18288" anchor="t">
            <a:spAutoFit/>
          </a:bodyPr>
          <a:lstStyle/>
          <a:p>
            <a:pPr algn="l">
              <a:lnSpc>
                <a:spcPct val="112000"/>
              </a:lnSpc>
              <a:spcAft>
                <a:spcPts val="600"/>
              </a:spcAft>
            </a:pPr>
            <a:r>
              <a:rPr sz="1400" b="0" i="0">
                <a:solidFill>
                  <a:srgbClr val="4D5766"/>
                </a:solidFill>
                <a:latin typeface="Calibri"/>
              </a:rPr>
              <a:t>V holds the eigenvectors of the document–document matrix AᵀA and U those of the word–word matrix AAᵀ. Verified numerically to about 10⁻¹⁴ in the app.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728655" y="6400800"/>
            <a:ext cx="914400" cy="274320"/>
          </a:xfrm>
          <a:prstGeom prst="rect">
            <a:avLst/>
          </a:prstGeom>
          <a:noFill/>
        </p:spPr>
        <p:txBody>
          <a:bodyPr wrap="square" lIns="18288" tIns="18288" rIns="18288" bIns="18288" anchor="t">
            <a:spAutoFit/>
          </a:bodyPr>
          <a:lstStyle/>
          <a:p>
            <a:pPr algn="r">
              <a:lnSpc>
                <a:spcPct val="112000"/>
              </a:lnSpc>
              <a:spcAft>
                <a:spcPts val="600"/>
              </a:spcAft>
            </a:pPr>
            <a:r>
              <a:rPr sz="1100" b="0" i="0">
                <a:solidFill>
                  <a:srgbClr val="7A8494"/>
                </a:solidFill>
                <a:latin typeface="Calibri"/>
              </a:rPr>
              <a:t>7</a:t>
            </a:r>
          </a:p>
        </p:txBody>
      </p:sp>
      <p:sp>
        <p:nvSpPr>
          <p:cNvPr id="3" name="Rectangle 2"/>
          <p:cNvSpPr/>
          <p:nvPr/>
        </p:nvSpPr>
        <p:spPr>
          <a:xfrm>
            <a:off x="548640"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49808" y="6437376"/>
            <a:ext cx="137160" cy="137160"/>
          </a:xfrm>
          <a:prstGeom prst="rect">
            <a:avLst/>
          </a:prstGeom>
          <a:solidFill>
            <a:srgbClr val="0F7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50976"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353312"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64208" y="6373368"/>
            <a:ext cx="2743200" cy="274320"/>
          </a:xfrm>
          <a:prstGeom prst="rect">
            <a:avLst/>
          </a:prstGeom>
          <a:noFill/>
        </p:spPr>
        <p:txBody>
          <a:bodyPr wrap="square" lIns="18288" tIns="18288" rIns="18288" bIns="18288" anchor="t">
            <a:spAutoFit/>
          </a:bodyPr>
          <a:lstStyle/>
          <a:p>
            <a:pPr algn="l">
              <a:lnSpc>
                <a:spcPct val="112000"/>
              </a:lnSpc>
              <a:spcAft>
                <a:spcPts val="600"/>
              </a:spcAft>
            </a:pPr>
            <a:r>
              <a:rPr sz="1100" b="0" i="0">
                <a:solidFill>
                  <a:srgbClr val="7A8494"/>
                </a:solidFill>
                <a:latin typeface="Calibri"/>
              </a:rPr>
              <a:t>Step 2 of 5: SVD</a:t>
            </a:r>
          </a:p>
        </p:txBody>
      </p:sp>
      <p:sp>
        <p:nvSpPr>
          <p:cNvPr id="9" name="TextBox 8"/>
          <p:cNvSpPr txBox="1"/>
          <p:nvPr/>
        </p:nvSpPr>
        <p:spPr>
          <a:xfrm>
            <a:off x="548640" y="411480"/>
            <a:ext cx="11094415" cy="1051560"/>
          </a:xfrm>
          <a:prstGeom prst="rect">
            <a:avLst/>
          </a:prstGeom>
          <a:noFill/>
        </p:spPr>
        <p:txBody>
          <a:bodyPr wrap="square" lIns="18288" tIns="18288" rIns="18288" bIns="18288" anchor="t">
            <a:spAutoFit/>
          </a:bodyPr>
          <a:lstStyle/>
          <a:p>
            <a:pPr algn="l">
              <a:lnSpc>
                <a:spcPct val="100000"/>
              </a:lnSpc>
              <a:spcAft>
                <a:spcPts val="600"/>
              </a:spcAft>
            </a:pPr>
            <a:r>
              <a:rPr sz="3000" b="1" i="0">
                <a:solidFill>
                  <a:srgbClr val="18202B"/>
                </a:solidFill>
                <a:latin typeface="Cambria"/>
              </a:rPr>
              <a:t>Two rank-1 layers already rebuild the structure of the 1990 example</a:t>
            </a:r>
          </a:p>
        </p:txBody>
      </p:sp>
      <p:pic>
        <p:nvPicPr>
          <p:cNvPr id="10" name="Picture 9" descr="classic_layers.png"/>
          <p:cNvPicPr>
            <a:picLocks noChangeAspect="1"/>
          </p:cNvPicPr>
          <p:nvPr/>
        </p:nvPicPr>
        <p:blipFill>
          <a:blip r:embed="rId3"/>
          <a:stretch>
            <a:fillRect/>
          </a:stretch>
        </p:blipFill>
        <p:spPr>
          <a:xfrm>
            <a:off x="1553509" y="1554480"/>
            <a:ext cx="9084675" cy="4251960"/>
          </a:xfrm>
          <a:prstGeom prst="rect">
            <a:avLst/>
          </a:prstGeom>
        </p:spPr>
      </p:pic>
      <p:pic>
        <p:nvPicPr>
          <p:cNvPr id="11" name="Picture 10" descr="eq_b031dd9fa238.png"/>
          <p:cNvPicPr>
            <a:picLocks noChangeAspect="1"/>
          </p:cNvPicPr>
          <p:nvPr/>
        </p:nvPicPr>
        <p:blipFill>
          <a:blip r:embed="rId4"/>
          <a:stretch>
            <a:fillRect/>
          </a:stretch>
        </p:blipFill>
        <p:spPr>
          <a:xfrm>
            <a:off x="548640" y="5870448"/>
            <a:ext cx="3718560" cy="3230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728655" y="6400800"/>
            <a:ext cx="914400" cy="274320"/>
          </a:xfrm>
          <a:prstGeom prst="rect">
            <a:avLst/>
          </a:prstGeom>
          <a:noFill/>
        </p:spPr>
        <p:txBody>
          <a:bodyPr wrap="square" lIns="18288" tIns="18288" rIns="18288" bIns="18288" anchor="t">
            <a:spAutoFit/>
          </a:bodyPr>
          <a:lstStyle/>
          <a:p>
            <a:pPr algn="r">
              <a:lnSpc>
                <a:spcPct val="112000"/>
              </a:lnSpc>
              <a:spcAft>
                <a:spcPts val="600"/>
              </a:spcAft>
            </a:pPr>
            <a:r>
              <a:rPr sz="1100" b="0" i="0">
                <a:solidFill>
                  <a:srgbClr val="7A8494"/>
                </a:solidFill>
                <a:latin typeface="Calibri"/>
              </a:rPr>
              <a:t>8</a:t>
            </a:r>
          </a:p>
        </p:txBody>
      </p:sp>
      <p:sp>
        <p:nvSpPr>
          <p:cNvPr id="3" name="Rectangle 2"/>
          <p:cNvSpPr/>
          <p:nvPr/>
        </p:nvSpPr>
        <p:spPr>
          <a:xfrm>
            <a:off x="548640"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49808"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50976" y="6437376"/>
            <a:ext cx="137160" cy="137160"/>
          </a:xfrm>
          <a:prstGeom prst="rect">
            <a:avLst/>
          </a:prstGeom>
          <a:solidFill>
            <a:srgbClr val="B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353312"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64208" y="6373368"/>
            <a:ext cx="2743200" cy="274320"/>
          </a:xfrm>
          <a:prstGeom prst="rect">
            <a:avLst/>
          </a:prstGeom>
          <a:noFill/>
        </p:spPr>
        <p:txBody>
          <a:bodyPr wrap="square" lIns="18288" tIns="18288" rIns="18288" bIns="18288" anchor="t">
            <a:spAutoFit/>
          </a:bodyPr>
          <a:lstStyle/>
          <a:p>
            <a:pPr algn="l">
              <a:lnSpc>
                <a:spcPct val="112000"/>
              </a:lnSpc>
              <a:spcAft>
                <a:spcPts val="600"/>
              </a:spcAft>
            </a:pPr>
            <a:r>
              <a:rPr sz="1100" b="0" i="0">
                <a:solidFill>
                  <a:srgbClr val="7A8494"/>
                </a:solidFill>
                <a:latin typeface="Calibri"/>
              </a:rPr>
              <a:t>Step 3 of 5: Keep k</a:t>
            </a:r>
          </a:p>
        </p:txBody>
      </p:sp>
      <p:sp>
        <p:nvSpPr>
          <p:cNvPr id="9" name="TextBox 8"/>
          <p:cNvSpPr txBox="1"/>
          <p:nvPr/>
        </p:nvSpPr>
        <p:spPr>
          <a:xfrm>
            <a:off x="548640" y="411480"/>
            <a:ext cx="11094415" cy="1051560"/>
          </a:xfrm>
          <a:prstGeom prst="rect">
            <a:avLst/>
          </a:prstGeom>
          <a:noFill/>
        </p:spPr>
        <p:txBody>
          <a:bodyPr wrap="square" lIns="18288" tIns="18288" rIns="18288" bIns="18288" anchor="t">
            <a:spAutoFit/>
          </a:bodyPr>
          <a:lstStyle/>
          <a:p>
            <a:pPr algn="l">
              <a:lnSpc>
                <a:spcPct val="100000"/>
              </a:lnSpc>
              <a:spcAft>
                <a:spcPts val="600"/>
              </a:spcAft>
            </a:pPr>
            <a:r>
              <a:rPr sz="3000" b="1" i="0">
                <a:solidFill>
                  <a:srgbClr val="18202B"/>
                </a:solidFill>
                <a:latin typeface="Cambria"/>
              </a:rPr>
              <a:t>The truncated SVD is provably the best rank-k approximation</a:t>
            </a:r>
          </a:p>
        </p:txBody>
      </p:sp>
      <p:pic>
        <p:nvPicPr>
          <p:cNvPr id="10" name="Picture 9" descr="eckart_young.png"/>
          <p:cNvPicPr>
            <a:picLocks noChangeAspect="1"/>
          </p:cNvPicPr>
          <p:nvPr/>
        </p:nvPicPr>
        <p:blipFill>
          <a:blip r:embed="rId3"/>
          <a:stretch>
            <a:fillRect/>
          </a:stretch>
        </p:blipFill>
        <p:spPr>
          <a:xfrm>
            <a:off x="548640" y="1508760"/>
            <a:ext cx="6492240" cy="3683483"/>
          </a:xfrm>
          <a:prstGeom prst="rect">
            <a:avLst/>
          </a:prstGeom>
        </p:spPr>
      </p:pic>
      <p:sp>
        <p:nvSpPr>
          <p:cNvPr id="11" name="TextBox 10"/>
          <p:cNvSpPr txBox="1"/>
          <p:nvPr/>
        </p:nvSpPr>
        <p:spPr>
          <a:xfrm>
            <a:off x="7406640" y="1600200"/>
            <a:ext cx="4236415" cy="365760"/>
          </a:xfrm>
          <a:prstGeom prst="rect">
            <a:avLst/>
          </a:prstGeom>
          <a:noFill/>
        </p:spPr>
        <p:txBody>
          <a:bodyPr wrap="square" lIns="18288" tIns="18288" rIns="18288" bIns="18288" anchor="t">
            <a:spAutoFit/>
          </a:bodyPr>
          <a:lstStyle/>
          <a:p>
            <a:pPr algn="l">
              <a:lnSpc>
                <a:spcPct val="112000"/>
              </a:lnSpc>
              <a:spcAft>
                <a:spcPts val="600"/>
              </a:spcAft>
            </a:pPr>
            <a:r>
              <a:rPr sz="1700" b="1" i="0">
                <a:solidFill>
                  <a:srgbClr val="18202B"/>
                </a:solidFill>
                <a:latin typeface="Cambria"/>
              </a:rPr>
              <a:t>Eckart–Young–Mirsky theorem (1936)</a:t>
            </a:r>
          </a:p>
        </p:txBody>
      </p:sp>
      <p:pic>
        <p:nvPicPr>
          <p:cNvPr id="12" name="Picture 11" descr="eq_8cf330b7f3a8.png"/>
          <p:cNvPicPr>
            <a:picLocks noChangeAspect="1"/>
          </p:cNvPicPr>
          <p:nvPr/>
        </p:nvPicPr>
        <p:blipFill>
          <a:blip r:embed="rId4"/>
          <a:stretch>
            <a:fillRect/>
          </a:stretch>
        </p:blipFill>
        <p:spPr>
          <a:xfrm>
            <a:off x="7406640" y="2103120"/>
            <a:ext cx="3115056" cy="438912"/>
          </a:xfrm>
          <a:prstGeom prst="rect">
            <a:avLst/>
          </a:prstGeom>
        </p:spPr>
      </p:pic>
      <p:pic>
        <p:nvPicPr>
          <p:cNvPr id="13" name="Picture 12" descr="eq_1c80d7eb7a4f.png"/>
          <p:cNvPicPr>
            <a:picLocks noChangeAspect="1"/>
          </p:cNvPicPr>
          <p:nvPr/>
        </p:nvPicPr>
        <p:blipFill>
          <a:blip r:embed="rId5"/>
          <a:stretch>
            <a:fillRect/>
          </a:stretch>
        </p:blipFill>
        <p:spPr>
          <a:xfrm>
            <a:off x="8229600" y="2743200"/>
            <a:ext cx="2127504" cy="445008"/>
          </a:xfrm>
          <a:prstGeom prst="rect">
            <a:avLst/>
          </a:prstGeom>
        </p:spPr>
      </p:pic>
      <p:sp>
        <p:nvSpPr>
          <p:cNvPr id="14" name="TextBox 13"/>
          <p:cNvSpPr txBox="1"/>
          <p:nvPr/>
        </p:nvSpPr>
        <p:spPr>
          <a:xfrm>
            <a:off x="7406640" y="3520440"/>
            <a:ext cx="4236415" cy="365760"/>
          </a:xfrm>
          <a:prstGeom prst="rect">
            <a:avLst/>
          </a:prstGeom>
          <a:noFill/>
        </p:spPr>
        <p:txBody>
          <a:bodyPr wrap="square" lIns="18288" tIns="18288" rIns="18288" bIns="18288" anchor="t">
            <a:spAutoFit/>
          </a:bodyPr>
          <a:lstStyle/>
          <a:p>
            <a:pPr algn="l">
              <a:lnSpc>
                <a:spcPct val="112000"/>
              </a:lnSpc>
              <a:spcAft>
                <a:spcPts val="600"/>
              </a:spcAft>
            </a:pPr>
            <a:r>
              <a:rPr sz="1500" b="0" i="0">
                <a:solidFill>
                  <a:srgbClr val="4D5766"/>
                </a:solidFill>
                <a:latin typeface="Calibri"/>
              </a:rPr>
              <a:t>Checked on the news matrix at k = 5:</a:t>
            </a:r>
          </a:p>
        </p:txBody>
      </p:sp>
      <p:sp>
        <p:nvSpPr>
          <p:cNvPr id="15" name="TextBox 14"/>
          <p:cNvSpPr txBox="1"/>
          <p:nvPr/>
        </p:nvSpPr>
        <p:spPr>
          <a:xfrm>
            <a:off x="7406640" y="3931920"/>
            <a:ext cx="4236415" cy="1463040"/>
          </a:xfrm>
          <a:prstGeom prst="rect">
            <a:avLst/>
          </a:prstGeom>
          <a:noFill/>
        </p:spPr>
        <p:txBody>
          <a:bodyPr wrap="square" lIns="18288" tIns="18288" rIns="18288" bIns="18288" anchor="t">
            <a:spAutoFit/>
          </a:bodyPr>
          <a:lstStyle/>
          <a:p>
            <a:pPr algn="l">
              <a:lnSpc>
                <a:spcPct val="112000"/>
              </a:lnSpc>
              <a:spcAft>
                <a:spcPts val="400"/>
              </a:spcAft>
            </a:pPr>
            <a:r>
              <a:rPr sz="1700" b="0" i="0">
                <a:solidFill>
                  <a:srgbClr val="4D5766"/>
                </a:solidFill>
                <a:latin typeface="Calibri"/>
              </a:rPr>
              <a:t>measured  </a:t>
            </a:r>
            <a:r>
              <a:rPr sz="1700" b="1" i="0">
                <a:solidFill>
                  <a:srgbClr val="6A4FC4"/>
                </a:solidFill>
                <a:latin typeface="Calibri"/>
              </a:rPr>
              <a:t>19.5045</a:t>
            </a:r>
          </a:p>
          <a:p>
            <a:pPr algn="l">
              <a:lnSpc>
                <a:spcPct val="112000"/>
              </a:lnSpc>
              <a:spcAft>
                <a:spcPts val="400"/>
              </a:spcAft>
            </a:pPr>
            <a:r>
              <a:rPr sz="1700" b="0" i="0">
                <a:solidFill>
                  <a:srgbClr val="4D5766"/>
                </a:solidFill>
                <a:latin typeface="Calibri"/>
              </a:rPr>
              <a:t>theory      </a:t>
            </a:r>
            <a:r>
              <a:rPr sz="1700" b="1" i="0">
                <a:solidFill>
                  <a:srgbClr val="0F7A80"/>
                </a:solidFill>
                <a:latin typeface="Calibri"/>
              </a:rPr>
              <a:t>19.5045</a:t>
            </a:r>
          </a:p>
          <a:p>
            <a:pPr algn="l">
              <a:lnSpc>
                <a:spcPct val="112000"/>
              </a:lnSpc>
              <a:spcAft>
                <a:spcPts val="400"/>
              </a:spcAft>
            </a:pPr>
            <a:r>
              <a:rPr sz="1700" b="0" i="0">
                <a:solidFill>
                  <a:srgbClr val="4D5766"/>
                </a:solidFill>
                <a:latin typeface="Calibri"/>
              </a:rPr>
              <a:t>spectral   </a:t>
            </a:r>
            <a:r>
              <a:rPr sz="1700" b="1" i="0">
                <a:solidFill>
                  <a:srgbClr val="18202B"/>
                </a:solidFill>
                <a:latin typeface="Calibri"/>
              </a:rPr>
              <a:t>1.6417 = σ₆</a:t>
            </a:r>
          </a:p>
        </p:txBody>
      </p:sp>
      <p:sp>
        <p:nvSpPr>
          <p:cNvPr id="16" name="TextBox 15"/>
          <p:cNvSpPr txBox="1"/>
          <p:nvPr/>
        </p:nvSpPr>
        <p:spPr>
          <a:xfrm>
            <a:off x="7406640" y="5257800"/>
            <a:ext cx="4236415" cy="822960"/>
          </a:xfrm>
          <a:prstGeom prst="rect">
            <a:avLst/>
          </a:prstGeom>
          <a:noFill/>
        </p:spPr>
        <p:txBody>
          <a:bodyPr wrap="square" lIns="18288" tIns="18288" rIns="18288" bIns="18288" anchor="t">
            <a:spAutoFit/>
          </a:bodyPr>
          <a:lstStyle/>
          <a:p>
            <a:pPr algn="l">
              <a:lnSpc>
                <a:spcPct val="112000"/>
              </a:lnSpc>
              <a:spcAft>
                <a:spcPts val="600"/>
              </a:spcAft>
            </a:pPr>
            <a:r>
              <a:rPr sz="1400" b="0" i="0">
                <a:solidFill>
                  <a:srgbClr val="4D5766"/>
                </a:solidFill>
                <a:latin typeface="Calibri"/>
              </a:rPr>
              <a:t>Random k-dimensional subspaces always do worse (grey band).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728655" y="6400800"/>
            <a:ext cx="914400" cy="274320"/>
          </a:xfrm>
          <a:prstGeom prst="rect">
            <a:avLst/>
          </a:prstGeom>
          <a:noFill/>
        </p:spPr>
        <p:txBody>
          <a:bodyPr wrap="square" lIns="18288" tIns="18288" rIns="18288" bIns="18288" anchor="t">
            <a:spAutoFit/>
          </a:bodyPr>
          <a:lstStyle/>
          <a:p>
            <a:pPr algn="r">
              <a:lnSpc>
                <a:spcPct val="112000"/>
              </a:lnSpc>
              <a:spcAft>
                <a:spcPts val="600"/>
              </a:spcAft>
            </a:pPr>
            <a:r>
              <a:rPr sz="1100" b="0" i="0">
                <a:solidFill>
                  <a:srgbClr val="7A8494"/>
                </a:solidFill>
                <a:latin typeface="Calibri"/>
              </a:rPr>
              <a:t>9</a:t>
            </a:r>
          </a:p>
        </p:txBody>
      </p:sp>
      <p:sp>
        <p:nvSpPr>
          <p:cNvPr id="3" name="Rectangle 2"/>
          <p:cNvSpPr/>
          <p:nvPr/>
        </p:nvSpPr>
        <p:spPr>
          <a:xfrm>
            <a:off x="548640"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49808"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50976" y="6437376"/>
            <a:ext cx="137160" cy="137160"/>
          </a:xfrm>
          <a:prstGeom prst="rect">
            <a:avLst/>
          </a:prstGeom>
          <a:solidFill>
            <a:srgbClr val="B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353312"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64208" y="6373368"/>
            <a:ext cx="2743200" cy="274320"/>
          </a:xfrm>
          <a:prstGeom prst="rect">
            <a:avLst/>
          </a:prstGeom>
          <a:noFill/>
        </p:spPr>
        <p:txBody>
          <a:bodyPr wrap="square" lIns="18288" tIns="18288" rIns="18288" bIns="18288" anchor="t">
            <a:spAutoFit/>
          </a:bodyPr>
          <a:lstStyle/>
          <a:p>
            <a:pPr algn="l">
              <a:lnSpc>
                <a:spcPct val="112000"/>
              </a:lnSpc>
              <a:spcAft>
                <a:spcPts val="600"/>
              </a:spcAft>
            </a:pPr>
            <a:r>
              <a:rPr sz="1100" b="0" i="0">
                <a:solidFill>
                  <a:srgbClr val="7A8494"/>
                </a:solidFill>
                <a:latin typeface="Calibri"/>
              </a:rPr>
              <a:t>Step 3 of 5: Keep k</a:t>
            </a:r>
          </a:p>
        </p:txBody>
      </p:sp>
      <p:sp>
        <p:nvSpPr>
          <p:cNvPr id="9" name="TextBox 8"/>
          <p:cNvSpPr txBox="1"/>
          <p:nvPr/>
        </p:nvSpPr>
        <p:spPr>
          <a:xfrm>
            <a:off x="548640" y="411480"/>
            <a:ext cx="11094415" cy="1051560"/>
          </a:xfrm>
          <a:prstGeom prst="rect">
            <a:avLst/>
          </a:prstGeom>
          <a:noFill/>
        </p:spPr>
        <p:txBody>
          <a:bodyPr wrap="square" lIns="18288" tIns="18288" rIns="18288" bIns="18288" anchor="t">
            <a:spAutoFit/>
          </a:bodyPr>
          <a:lstStyle/>
          <a:p>
            <a:pPr algn="l">
              <a:lnSpc>
                <a:spcPct val="100000"/>
              </a:lnSpc>
              <a:spcAft>
                <a:spcPts val="600"/>
              </a:spcAft>
            </a:pPr>
            <a:r>
              <a:rPr sz="3000" b="1" i="0">
                <a:solidFill>
                  <a:srgbClr val="18202B"/>
                </a:solidFill>
                <a:latin typeface="Cambria"/>
              </a:rPr>
              <a:t>Real text has a few strong concepts and a long flat tail</a:t>
            </a:r>
          </a:p>
        </p:txBody>
      </p:sp>
      <p:pic>
        <p:nvPicPr>
          <p:cNvPr id="10" name="Picture 9" descr="scree.png"/>
          <p:cNvPicPr>
            <a:picLocks noChangeAspect="1"/>
          </p:cNvPicPr>
          <p:nvPr/>
        </p:nvPicPr>
        <p:blipFill>
          <a:blip r:embed="rId3"/>
          <a:stretch>
            <a:fillRect/>
          </a:stretch>
        </p:blipFill>
        <p:spPr>
          <a:xfrm>
            <a:off x="1344662" y="1554480"/>
            <a:ext cx="9502370" cy="3977639"/>
          </a:xfrm>
          <a:prstGeom prst="rect">
            <a:avLst/>
          </a:prstGeom>
        </p:spPr>
      </p:pic>
      <p:sp>
        <p:nvSpPr>
          <p:cNvPr id="11" name="TextBox 10"/>
          <p:cNvSpPr txBox="1"/>
          <p:nvPr/>
        </p:nvSpPr>
        <p:spPr>
          <a:xfrm>
            <a:off x="548640" y="5669280"/>
            <a:ext cx="11094415" cy="548640"/>
          </a:xfrm>
          <a:prstGeom prst="rect">
            <a:avLst/>
          </a:prstGeom>
          <a:noFill/>
        </p:spPr>
        <p:txBody>
          <a:bodyPr wrap="square" lIns="18288" tIns="18288" rIns="18288" bIns="18288" anchor="t">
            <a:spAutoFit/>
          </a:bodyPr>
          <a:lstStyle/>
          <a:p>
            <a:pPr algn="l">
              <a:lnSpc>
                <a:spcPct val="112000"/>
              </a:lnSpc>
              <a:spcAft>
                <a:spcPts val="600"/>
              </a:spcAft>
            </a:pPr>
            <a:r>
              <a:rPr sz="1600" b="1" i="0">
                <a:solidFill>
                  <a:srgbClr val="18202B"/>
                </a:solidFill>
                <a:latin typeface="Calibri"/>
              </a:rPr>
              <a:t>k = 5 keeps only 4.9% of the energy, </a:t>
            </a:r>
            <a:r>
              <a:rPr sz="1600" b="0" i="0">
                <a:solidFill>
                  <a:srgbClr val="4D5766"/>
                </a:solidFill>
                <a:latin typeface="Calibri"/>
              </a:rPr>
              <a:t>yet it gives the best clusters. The tail is mostly the particular wording of single articles.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728655" y="6400800"/>
            <a:ext cx="914400" cy="274320"/>
          </a:xfrm>
          <a:prstGeom prst="rect">
            <a:avLst/>
          </a:prstGeom>
          <a:noFill/>
        </p:spPr>
        <p:txBody>
          <a:bodyPr wrap="square" lIns="18288" tIns="18288" rIns="18288" bIns="18288" anchor="t">
            <a:spAutoFit/>
          </a:bodyPr>
          <a:lstStyle/>
          <a:p>
            <a:pPr algn="r">
              <a:lnSpc>
                <a:spcPct val="112000"/>
              </a:lnSpc>
              <a:spcAft>
                <a:spcPts val="600"/>
              </a:spcAft>
            </a:pPr>
            <a:r>
              <a:rPr sz="1100" b="0" i="0">
                <a:solidFill>
                  <a:srgbClr val="7A8494"/>
                </a:solidFill>
                <a:latin typeface="Calibri"/>
              </a:rPr>
              <a:t>10</a:t>
            </a:r>
          </a:p>
        </p:txBody>
      </p:sp>
      <p:sp>
        <p:nvSpPr>
          <p:cNvPr id="3" name="Rectangle 2"/>
          <p:cNvSpPr/>
          <p:nvPr/>
        </p:nvSpPr>
        <p:spPr>
          <a:xfrm>
            <a:off x="548640"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49808"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50976" y="6437376"/>
            <a:ext cx="137160" cy="137160"/>
          </a:xfrm>
          <a:prstGeom prst="rect">
            <a:avLst/>
          </a:prstGeom>
          <a:solidFill>
            <a:srgbClr val="B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353312"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64208" y="6373368"/>
            <a:ext cx="2743200" cy="274320"/>
          </a:xfrm>
          <a:prstGeom prst="rect">
            <a:avLst/>
          </a:prstGeom>
          <a:noFill/>
        </p:spPr>
        <p:txBody>
          <a:bodyPr wrap="square" lIns="18288" tIns="18288" rIns="18288" bIns="18288" anchor="t">
            <a:spAutoFit/>
          </a:bodyPr>
          <a:lstStyle/>
          <a:p>
            <a:pPr algn="l">
              <a:lnSpc>
                <a:spcPct val="112000"/>
              </a:lnSpc>
              <a:spcAft>
                <a:spcPts val="600"/>
              </a:spcAft>
            </a:pPr>
            <a:r>
              <a:rPr sz="1100" b="0" i="0">
                <a:solidFill>
                  <a:srgbClr val="7A8494"/>
                </a:solidFill>
                <a:latin typeface="Calibri"/>
              </a:rPr>
              <a:t>Step 3 of 5: Keep k</a:t>
            </a:r>
          </a:p>
        </p:txBody>
      </p:sp>
      <p:sp>
        <p:nvSpPr>
          <p:cNvPr id="9" name="TextBox 8"/>
          <p:cNvSpPr txBox="1"/>
          <p:nvPr/>
        </p:nvSpPr>
        <p:spPr>
          <a:xfrm>
            <a:off x="548640" y="411480"/>
            <a:ext cx="11094415" cy="1051560"/>
          </a:xfrm>
          <a:prstGeom prst="rect">
            <a:avLst/>
          </a:prstGeom>
          <a:noFill/>
        </p:spPr>
        <p:txBody>
          <a:bodyPr wrap="square" lIns="18288" tIns="18288" rIns="18288" bIns="18288" anchor="t">
            <a:spAutoFit/>
          </a:bodyPr>
          <a:lstStyle/>
          <a:p>
            <a:pPr algn="l">
              <a:lnSpc>
                <a:spcPct val="100000"/>
              </a:lnSpc>
              <a:spcAft>
                <a:spcPts val="600"/>
              </a:spcAft>
            </a:pPr>
            <a:r>
              <a:rPr sz="3000" b="1" i="0">
                <a:solidFill>
                  <a:srgbClr val="18202B"/>
                </a:solidFill>
                <a:latin typeface="Cambria"/>
              </a:rPr>
              <a:t>LSA learns that “human” and “user” are related, though they never appear together</a:t>
            </a:r>
          </a:p>
        </p:txBody>
      </p:sp>
      <p:pic>
        <p:nvPicPr>
          <p:cNvPr id="10" name="Picture 9" descr="classic_synonymy.png"/>
          <p:cNvPicPr>
            <a:picLocks noChangeAspect="1"/>
          </p:cNvPicPr>
          <p:nvPr/>
        </p:nvPicPr>
        <p:blipFill>
          <a:blip r:embed="rId3"/>
          <a:stretch>
            <a:fillRect/>
          </a:stretch>
        </p:blipFill>
        <p:spPr>
          <a:xfrm>
            <a:off x="548640" y="1600200"/>
            <a:ext cx="7589520" cy="4283321"/>
          </a:xfrm>
          <a:prstGeom prst="rect">
            <a:avLst/>
          </a:prstGeom>
        </p:spPr>
      </p:pic>
      <p:sp>
        <p:nvSpPr>
          <p:cNvPr id="11" name="TextBox 10"/>
          <p:cNvSpPr txBox="1"/>
          <p:nvPr/>
        </p:nvSpPr>
        <p:spPr>
          <a:xfrm>
            <a:off x="8458200" y="1737360"/>
            <a:ext cx="3200400" cy="731520"/>
          </a:xfrm>
          <a:prstGeom prst="rect">
            <a:avLst/>
          </a:prstGeom>
          <a:noFill/>
        </p:spPr>
        <p:txBody>
          <a:bodyPr wrap="square" lIns="18288" tIns="18288" rIns="18288" bIns="18288" anchor="t">
            <a:spAutoFit/>
          </a:bodyPr>
          <a:lstStyle/>
          <a:p>
            <a:pPr algn="l">
              <a:lnSpc>
                <a:spcPct val="100000"/>
              </a:lnSpc>
              <a:spcAft>
                <a:spcPts val="0"/>
              </a:spcAft>
            </a:pPr>
            <a:r>
              <a:rPr sz="3400" b="1" i="0">
                <a:solidFill>
                  <a:srgbClr val="0F7A80"/>
                </a:solidFill>
                <a:latin typeface="Cambria"/>
              </a:rPr>
              <a:t>-0.38 → +0.94</a:t>
            </a:r>
          </a:p>
        </p:txBody>
      </p:sp>
      <p:sp>
        <p:nvSpPr>
          <p:cNvPr id="12" name="TextBox 11"/>
          <p:cNvSpPr txBox="1"/>
          <p:nvPr/>
        </p:nvSpPr>
        <p:spPr>
          <a:xfrm>
            <a:off x="8458200" y="2246884"/>
            <a:ext cx="3200400" cy="822960"/>
          </a:xfrm>
          <a:prstGeom prst="rect">
            <a:avLst/>
          </a:prstGeom>
          <a:noFill/>
        </p:spPr>
        <p:txBody>
          <a:bodyPr wrap="square" lIns="18288" tIns="18288" rIns="18288" bIns="18288" anchor="t">
            <a:spAutoFit/>
          </a:bodyPr>
          <a:lstStyle/>
          <a:p>
            <a:pPr algn="l">
              <a:lnSpc>
                <a:spcPct val="112000"/>
              </a:lnSpc>
              <a:spcAft>
                <a:spcPts val="0"/>
              </a:spcAft>
            </a:pPr>
            <a:r>
              <a:rPr sz="1400" b="0" i="0">
                <a:solidFill>
                  <a:srgbClr val="4D5766"/>
                </a:solidFill>
                <a:latin typeface="Calibri"/>
              </a:rPr>
              <a:t>correlation of “human” and “user”, before and after keeping 2 concepts</a:t>
            </a:r>
          </a:p>
        </p:txBody>
      </p:sp>
      <p:sp>
        <p:nvSpPr>
          <p:cNvPr id="13" name="TextBox 12"/>
          <p:cNvSpPr txBox="1"/>
          <p:nvPr/>
        </p:nvSpPr>
        <p:spPr>
          <a:xfrm>
            <a:off x="8458200" y="3337560"/>
            <a:ext cx="3200400" cy="731520"/>
          </a:xfrm>
          <a:prstGeom prst="rect">
            <a:avLst/>
          </a:prstGeom>
          <a:noFill/>
        </p:spPr>
        <p:txBody>
          <a:bodyPr wrap="square" lIns="18288" tIns="18288" rIns="18288" bIns="18288" anchor="t">
            <a:spAutoFit/>
          </a:bodyPr>
          <a:lstStyle/>
          <a:p>
            <a:pPr algn="l">
              <a:lnSpc>
                <a:spcPct val="100000"/>
              </a:lnSpc>
              <a:spcAft>
                <a:spcPts val="0"/>
              </a:spcAft>
            </a:pPr>
            <a:r>
              <a:rPr sz="3400" b="1" i="0">
                <a:solidFill>
                  <a:srgbClr val="18202B"/>
                </a:solidFill>
                <a:latin typeface="Cambria"/>
              </a:rPr>
              <a:t>-0.29 → -0.83</a:t>
            </a:r>
          </a:p>
        </p:txBody>
      </p:sp>
      <p:sp>
        <p:nvSpPr>
          <p:cNvPr id="14" name="TextBox 13"/>
          <p:cNvSpPr txBox="1"/>
          <p:nvPr/>
        </p:nvSpPr>
        <p:spPr>
          <a:xfrm>
            <a:off x="8458200" y="3847083"/>
            <a:ext cx="3200400" cy="822960"/>
          </a:xfrm>
          <a:prstGeom prst="rect">
            <a:avLst/>
          </a:prstGeom>
          <a:noFill/>
        </p:spPr>
        <p:txBody>
          <a:bodyPr wrap="square" lIns="18288" tIns="18288" rIns="18288" bIns="18288" anchor="t">
            <a:spAutoFit/>
          </a:bodyPr>
          <a:lstStyle/>
          <a:p>
            <a:pPr algn="l">
              <a:lnSpc>
                <a:spcPct val="112000"/>
              </a:lnSpc>
              <a:spcAft>
                <a:spcPts val="0"/>
              </a:spcAft>
            </a:pPr>
            <a:r>
              <a:rPr sz="1400" b="0" i="0">
                <a:solidFill>
                  <a:srgbClr val="4D5766"/>
                </a:solidFill>
                <a:latin typeface="Calibri"/>
              </a:rPr>
              <a:t>“human” and “minors”: unrelated words are pushed apart</a:t>
            </a:r>
          </a:p>
        </p:txBody>
      </p:sp>
      <p:sp>
        <p:nvSpPr>
          <p:cNvPr id="15" name="TextBox 14"/>
          <p:cNvSpPr txBox="1"/>
          <p:nvPr/>
        </p:nvSpPr>
        <p:spPr>
          <a:xfrm>
            <a:off x="8458200" y="4937760"/>
            <a:ext cx="3200400" cy="1188720"/>
          </a:xfrm>
          <a:prstGeom prst="rect">
            <a:avLst/>
          </a:prstGeom>
          <a:noFill/>
        </p:spPr>
        <p:txBody>
          <a:bodyPr wrap="square" lIns="18288" tIns="18288" rIns="18288" bIns="18288" anchor="t">
            <a:spAutoFit/>
          </a:bodyPr>
          <a:lstStyle/>
          <a:p>
            <a:pPr algn="l">
              <a:lnSpc>
                <a:spcPct val="112000"/>
              </a:lnSpc>
              <a:spcAft>
                <a:spcPts val="600"/>
              </a:spcAft>
            </a:pPr>
            <a:r>
              <a:rPr sz="1400" b="0" i="0">
                <a:solidFill>
                  <a:srgbClr val="4D5766"/>
                </a:solidFill>
                <a:latin typeface="Calibri"/>
              </a:rPr>
              <a:t>Exactly the values published by Deerwester et al. (1990). A test checks them.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728655" y="6400800"/>
            <a:ext cx="914400" cy="274320"/>
          </a:xfrm>
          <a:prstGeom prst="rect">
            <a:avLst/>
          </a:prstGeom>
          <a:noFill/>
        </p:spPr>
        <p:txBody>
          <a:bodyPr wrap="square" lIns="18288" tIns="18288" rIns="18288" bIns="18288" anchor="t">
            <a:spAutoFit/>
          </a:bodyPr>
          <a:lstStyle/>
          <a:p>
            <a:pPr algn="r">
              <a:lnSpc>
                <a:spcPct val="112000"/>
              </a:lnSpc>
              <a:spcAft>
                <a:spcPts val="600"/>
              </a:spcAft>
            </a:pPr>
            <a:r>
              <a:rPr sz="1100" b="0" i="0">
                <a:solidFill>
                  <a:srgbClr val="7A8494"/>
                </a:solidFill>
                <a:latin typeface="Calibri"/>
              </a:rPr>
              <a:t>11</a:t>
            </a:r>
          </a:p>
        </p:txBody>
      </p:sp>
      <p:sp>
        <p:nvSpPr>
          <p:cNvPr id="3" name="Rectangle 2"/>
          <p:cNvSpPr/>
          <p:nvPr/>
        </p:nvSpPr>
        <p:spPr>
          <a:xfrm>
            <a:off x="548640"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49808"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50976" y="6437376"/>
            <a:ext cx="137160" cy="137160"/>
          </a:xfrm>
          <a:prstGeom prst="rect">
            <a:avLst/>
          </a:prstGeom>
          <a:solidFill>
            <a:srgbClr val="B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353312"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64208" y="6373368"/>
            <a:ext cx="2743200" cy="274320"/>
          </a:xfrm>
          <a:prstGeom prst="rect">
            <a:avLst/>
          </a:prstGeom>
          <a:noFill/>
        </p:spPr>
        <p:txBody>
          <a:bodyPr wrap="square" lIns="18288" tIns="18288" rIns="18288" bIns="18288" anchor="t">
            <a:spAutoFit/>
          </a:bodyPr>
          <a:lstStyle/>
          <a:p>
            <a:pPr algn="l">
              <a:lnSpc>
                <a:spcPct val="112000"/>
              </a:lnSpc>
              <a:spcAft>
                <a:spcPts val="600"/>
              </a:spcAft>
            </a:pPr>
            <a:r>
              <a:rPr sz="1100" b="0" i="0">
                <a:solidFill>
                  <a:srgbClr val="7A8494"/>
                </a:solidFill>
                <a:latin typeface="Calibri"/>
              </a:rPr>
              <a:t>Step 3 of 5: Keep k</a:t>
            </a:r>
          </a:p>
        </p:txBody>
      </p:sp>
      <p:sp>
        <p:nvSpPr>
          <p:cNvPr id="9" name="TextBox 8"/>
          <p:cNvSpPr txBox="1"/>
          <p:nvPr/>
        </p:nvSpPr>
        <p:spPr>
          <a:xfrm>
            <a:off x="548640" y="411480"/>
            <a:ext cx="11094415" cy="1051560"/>
          </a:xfrm>
          <a:prstGeom prst="rect">
            <a:avLst/>
          </a:prstGeom>
          <a:noFill/>
        </p:spPr>
        <p:txBody>
          <a:bodyPr wrap="square" lIns="18288" tIns="18288" rIns="18288" bIns="18288" anchor="t">
            <a:spAutoFit/>
          </a:bodyPr>
          <a:lstStyle/>
          <a:p>
            <a:pPr algn="l">
              <a:lnSpc>
                <a:spcPct val="100000"/>
              </a:lnSpc>
              <a:spcAft>
                <a:spcPts val="600"/>
              </a:spcAft>
            </a:pPr>
            <a:r>
              <a:rPr sz="3000" b="1" i="0">
                <a:solidFill>
                  <a:srgbClr val="18202B"/>
                </a:solidFill>
                <a:latin typeface="Cambria"/>
              </a:rPr>
              <a:t>Each concept is a contrast between two groups of words</a:t>
            </a:r>
          </a:p>
        </p:txBody>
      </p:sp>
      <p:pic>
        <p:nvPicPr>
          <p:cNvPr id="10" name="Picture 9" descr="concepts.png"/>
          <p:cNvPicPr>
            <a:picLocks noChangeAspect="1"/>
          </p:cNvPicPr>
          <p:nvPr/>
        </p:nvPicPr>
        <p:blipFill>
          <a:blip r:embed="rId3"/>
          <a:stretch>
            <a:fillRect/>
          </a:stretch>
        </p:blipFill>
        <p:spPr>
          <a:xfrm>
            <a:off x="548640" y="1554480"/>
            <a:ext cx="11094415" cy="3562565"/>
          </a:xfrm>
          <a:prstGeom prst="rect">
            <a:avLst/>
          </a:prstGeom>
        </p:spPr>
      </p:pic>
      <p:sp>
        <p:nvSpPr>
          <p:cNvPr id="11" name="TextBox 10"/>
          <p:cNvSpPr txBox="1"/>
          <p:nvPr/>
        </p:nvSpPr>
        <p:spPr>
          <a:xfrm>
            <a:off x="548640" y="5532120"/>
            <a:ext cx="11094415" cy="822960"/>
          </a:xfrm>
          <a:prstGeom prst="rect">
            <a:avLst/>
          </a:prstGeom>
          <a:noFill/>
        </p:spPr>
        <p:txBody>
          <a:bodyPr wrap="square" lIns="18288" tIns="18288" rIns="18288" bIns="18288" anchor="t">
            <a:spAutoFit/>
          </a:bodyPr>
          <a:lstStyle/>
          <a:p>
            <a:pPr algn="l">
              <a:lnSpc>
                <a:spcPct val="112000"/>
              </a:lnSpc>
              <a:spcAft>
                <a:spcPts val="200"/>
              </a:spcAft>
            </a:pPr>
            <a:r>
              <a:rPr sz="1300" b="1" i="0">
                <a:solidFill>
                  <a:srgbClr val="18202B"/>
                </a:solidFill>
                <a:latin typeface="Calibri"/>
              </a:rPr>
              <a:t>Concept 2: </a:t>
            </a:r>
            <a:r>
              <a:rPr sz="1300" b="0" i="0">
                <a:solidFill>
                  <a:srgbClr val="B3261E"/>
                </a:solidFill>
                <a:latin typeface="Calibri"/>
              </a:rPr>
              <a:t>oil, stocks, prices</a:t>
            </a:r>
            <a:r>
              <a:rPr sz="1300" b="0" i="0">
                <a:solidFill>
                  <a:srgbClr val="7A8494"/>
                </a:solidFill>
                <a:latin typeface="Calibri"/>
              </a:rPr>
              <a:t>  versus  </a:t>
            </a:r>
            <a:r>
              <a:rPr sz="1300" b="0" i="0">
                <a:solidFill>
                  <a:srgbClr val="1C5CAB"/>
                </a:solidFill>
                <a:latin typeface="Calibri"/>
              </a:rPr>
              <a:t>microsoft, software, service</a:t>
            </a:r>
            <a:r>
              <a:rPr sz="1300" b="0" i="0">
                <a:solidFill>
                  <a:srgbClr val="18202B"/>
                </a:solidFill>
                <a:latin typeface="Calibri"/>
              </a:rPr>
              <a:t>        </a:t>
            </a:r>
            <a:r>
              <a:rPr sz="1300" b="1" i="0">
                <a:solidFill>
                  <a:srgbClr val="18202B"/>
                </a:solidFill>
                <a:latin typeface="Calibri"/>
              </a:rPr>
              <a:t>Concept 3: </a:t>
            </a:r>
            <a:r>
              <a:rPr sz="1300" b="0" i="0">
                <a:solidFill>
                  <a:srgbClr val="B3261E"/>
                </a:solidFill>
                <a:latin typeface="Calibri"/>
              </a:rPr>
              <a:t>microsoft, software, stocks</a:t>
            </a:r>
            <a:r>
              <a:rPr sz="1300" b="0" i="0">
                <a:solidFill>
                  <a:srgbClr val="7A8494"/>
                </a:solidFill>
                <a:latin typeface="Calibri"/>
              </a:rPr>
              <a:t>  versus  </a:t>
            </a:r>
            <a:r>
              <a:rPr sz="1300" b="0" i="0">
                <a:solidFill>
                  <a:srgbClr val="1C5CAB"/>
                </a:solidFill>
                <a:latin typeface="Calibri"/>
              </a:rPr>
              <a:t>iraq, said, team</a:t>
            </a:r>
          </a:p>
          <a:p>
            <a:pPr algn="l">
              <a:lnSpc>
                <a:spcPct val="112000"/>
              </a:lnSpc>
              <a:spcAft>
                <a:spcPts val="200"/>
              </a:spcAft>
            </a:pPr>
            <a:r>
              <a:rPr sz="1300" b="1" i="0">
                <a:solidFill>
                  <a:srgbClr val="18202B"/>
                </a:solidFill>
                <a:latin typeface="Calibri"/>
              </a:rPr>
              <a:t>Concept 4: </a:t>
            </a:r>
            <a:r>
              <a:rPr sz="1300" b="0" i="0">
                <a:solidFill>
                  <a:srgbClr val="B3261E"/>
                </a:solidFill>
                <a:latin typeface="Calibri"/>
              </a:rPr>
              <a:t>team, season, game</a:t>
            </a:r>
            <a:r>
              <a:rPr sz="1300" b="0" i="0">
                <a:solidFill>
                  <a:srgbClr val="7A8494"/>
                </a:solidFill>
                <a:latin typeface="Calibri"/>
              </a:rPr>
              <a:t>  versus  </a:t>
            </a:r>
            <a:r>
              <a:rPr sz="1300" b="0" i="0">
                <a:solidFill>
                  <a:srgbClr val="1C5CAB"/>
                </a:solidFill>
                <a:latin typeface="Calibri"/>
              </a:rPr>
              <a:t>iraq, said, pilots</a:t>
            </a:r>
            <a:r>
              <a:rPr sz="1300" b="0" i="0">
                <a:solidFill>
                  <a:srgbClr val="18202B"/>
                </a:solidFill>
                <a:latin typeface="Calibri"/>
              </a:rPr>
              <a:t>        </a:t>
            </a:r>
            <a:r>
              <a:rPr sz="1300" b="1" i="0">
                <a:solidFill>
                  <a:srgbClr val="18202B"/>
                </a:solidFill>
                <a:latin typeface="Calibri"/>
              </a:rPr>
              <a:t>Concept 5: </a:t>
            </a:r>
            <a:r>
              <a:rPr sz="1300" b="0" i="0">
                <a:solidFill>
                  <a:srgbClr val="B3261E"/>
                </a:solidFill>
                <a:latin typeface="Calibri"/>
              </a:rPr>
              <a:t>pilots, delta, air</a:t>
            </a:r>
            <a:r>
              <a:rPr sz="1300" b="0" i="0">
                <a:solidFill>
                  <a:srgbClr val="7A8494"/>
                </a:solidFill>
                <a:latin typeface="Calibri"/>
              </a:rPr>
              <a:t>  versus  </a:t>
            </a:r>
            <a:r>
              <a:rPr sz="1300" b="0" i="0">
                <a:solidFill>
                  <a:srgbClr val="1C5CAB"/>
                </a:solidFill>
                <a:latin typeface="Calibri"/>
              </a:rPr>
              <a:t>microsoft, iraq, software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728655" y="6400800"/>
            <a:ext cx="914400" cy="274320"/>
          </a:xfrm>
          <a:prstGeom prst="rect">
            <a:avLst/>
          </a:prstGeom>
          <a:noFill/>
        </p:spPr>
        <p:txBody>
          <a:bodyPr wrap="square" lIns="18288" tIns="18288" rIns="18288" bIns="18288" anchor="t">
            <a:spAutoFit/>
          </a:bodyPr>
          <a:lstStyle/>
          <a:p>
            <a:pPr algn="r">
              <a:lnSpc>
                <a:spcPct val="112000"/>
              </a:lnSpc>
              <a:spcAft>
                <a:spcPts val="600"/>
              </a:spcAft>
            </a:pPr>
            <a:r>
              <a:rPr sz="1100" b="0" i="0">
                <a:solidFill>
                  <a:srgbClr val="7A8494"/>
                </a:solidFill>
                <a:latin typeface="Calibri"/>
              </a:rPr>
              <a:t>12</a:t>
            </a:r>
          </a:p>
        </p:txBody>
      </p:sp>
      <p:sp>
        <p:nvSpPr>
          <p:cNvPr id="3" name="Rectangle 2"/>
          <p:cNvSpPr/>
          <p:nvPr/>
        </p:nvSpPr>
        <p:spPr>
          <a:xfrm>
            <a:off x="548640"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49808"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50976"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 y="6437376"/>
            <a:ext cx="137160" cy="137160"/>
          </a:xfrm>
          <a:prstGeom prst="rect">
            <a:avLst/>
          </a:prstGeom>
          <a:solidFill>
            <a:srgbClr val="6A4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353312"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64208" y="6373368"/>
            <a:ext cx="2743200" cy="274320"/>
          </a:xfrm>
          <a:prstGeom prst="rect">
            <a:avLst/>
          </a:prstGeom>
          <a:noFill/>
        </p:spPr>
        <p:txBody>
          <a:bodyPr wrap="square" lIns="18288" tIns="18288" rIns="18288" bIns="18288" anchor="t">
            <a:spAutoFit/>
          </a:bodyPr>
          <a:lstStyle/>
          <a:p>
            <a:pPr algn="l">
              <a:lnSpc>
                <a:spcPct val="112000"/>
              </a:lnSpc>
              <a:spcAft>
                <a:spcPts val="600"/>
              </a:spcAft>
            </a:pPr>
            <a:r>
              <a:rPr sz="1100" b="0" i="0">
                <a:solidFill>
                  <a:srgbClr val="7A8494"/>
                </a:solidFill>
                <a:latin typeface="Calibri"/>
              </a:rPr>
              <a:t>Step 4 of 5: Cluster</a:t>
            </a:r>
          </a:p>
        </p:txBody>
      </p:sp>
      <p:sp>
        <p:nvSpPr>
          <p:cNvPr id="9" name="TextBox 8"/>
          <p:cNvSpPr txBox="1"/>
          <p:nvPr/>
        </p:nvSpPr>
        <p:spPr>
          <a:xfrm>
            <a:off x="548640" y="411480"/>
            <a:ext cx="11094415" cy="1051560"/>
          </a:xfrm>
          <a:prstGeom prst="rect">
            <a:avLst/>
          </a:prstGeom>
          <a:noFill/>
        </p:spPr>
        <p:txBody>
          <a:bodyPr wrap="square" lIns="18288" tIns="18288" rIns="18288" bIns="18288" anchor="t">
            <a:spAutoFit/>
          </a:bodyPr>
          <a:lstStyle/>
          <a:p>
            <a:pPr algn="l">
              <a:lnSpc>
                <a:spcPct val="100000"/>
              </a:lnSpc>
              <a:spcAft>
                <a:spcPts val="600"/>
              </a:spcAft>
            </a:pPr>
            <a:r>
              <a:rPr sz="3000" b="1" i="0">
                <a:solidFill>
                  <a:srgbClr val="18202B"/>
                </a:solidFill>
                <a:latin typeface="Cambria"/>
              </a:rPr>
              <a:t>Compared through 5 concepts, each news section lights up as a block</a:t>
            </a:r>
          </a:p>
        </p:txBody>
      </p:sp>
      <p:pic>
        <p:nvPicPr>
          <p:cNvPr id="10" name="Picture 9" descr="similarity_two_ways.png"/>
          <p:cNvPicPr>
            <a:picLocks noChangeAspect="1"/>
          </p:cNvPicPr>
          <p:nvPr/>
        </p:nvPicPr>
        <p:blipFill>
          <a:blip r:embed="rId3"/>
          <a:stretch>
            <a:fillRect/>
          </a:stretch>
        </p:blipFill>
        <p:spPr>
          <a:xfrm>
            <a:off x="1733992" y="1508760"/>
            <a:ext cx="8723711" cy="4251960"/>
          </a:xfrm>
          <a:prstGeom prst="rect">
            <a:avLst/>
          </a:prstGeom>
        </p:spPr>
      </p:pic>
      <p:sp>
        <p:nvSpPr>
          <p:cNvPr id="11" name="TextBox 10"/>
          <p:cNvSpPr txBox="1"/>
          <p:nvPr/>
        </p:nvSpPr>
        <p:spPr>
          <a:xfrm>
            <a:off x="548640" y="5806440"/>
            <a:ext cx="11094415" cy="457200"/>
          </a:xfrm>
          <a:prstGeom prst="rect">
            <a:avLst/>
          </a:prstGeom>
          <a:noFill/>
        </p:spPr>
        <p:txBody>
          <a:bodyPr wrap="square" lIns="18288" tIns="18288" rIns="18288" bIns="18288" anchor="t">
            <a:spAutoFit/>
          </a:bodyPr>
          <a:lstStyle/>
          <a:p>
            <a:pPr algn="l">
              <a:lnSpc>
                <a:spcPct val="112000"/>
              </a:lnSpc>
              <a:spcAft>
                <a:spcPts val="600"/>
              </a:spcAft>
            </a:pPr>
            <a:r>
              <a:rPr sz="1400" b="0" i="0">
                <a:solidFill>
                  <a:srgbClr val="4D5766"/>
                </a:solidFill>
                <a:latin typeface="Calibri"/>
              </a:rPr>
              <a:t>400 × 400 cosine similarities, articles sorted by section. Same colour scale, from 0 (white) to 1 (dark).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728655" y="6400800"/>
            <a:ext cx="914400" cy="274320"/>
          </a:xfrm>
          <a:prstGeom prst="rect">
            <a:avLst/>
          </a:prstGeom>
          <a:noFill/>
        </p:spPr>
        <p:txBody>
          <a:bodyPr wrap="square" lIns="18288" tIns="18288" rIns="18288" bIns="18288" anchor="t">
            <a:spAutoFit/>
          </a:bodyPr>
          <a:lstStyle/>
          <a:p>
            <a:pPr algn="r">
              <a:lnSpc>
                <a:spcPct val="112000"/>
              </a:lnSpc>
              <a:spcAft>
                <a:spcPts val="600"/>
              </a:spcAft>
            </a:pPr>
            <a:r>
              <a:rPr sz="1100" b="0" i="0">
                <a:solidFill>
                  <a:srgbClr val="7A8494"/>
                </a:solidFill>
                <a:latin typeface="Calibri"/>
              </a:rPr>
              <a:t>13</a:t>
            </a:r>
          </a:p>
        </p:txBody>
      </p:sp>
      <p:sp>
        <p:nvSpPr>
          <p:cNvPr id="3" name="Rectangle 2"/>
          <p:cNvSpPr/>
          <p:nvPr/>
        </p:nvSpPr>
        <p:spPr>
          <a:xfrm>
            <a:off x="548640"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49808"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50976"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 y="6437376"/>
            <a:ext cx="137160" cy="137160"/>
          </a:xfrm>
          <a:prstGeom prst="rect">
            <a:avLst/>
          </a:prstGeom>
          <a:solidFill>
            <a:srgbClr val="6A4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353312"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64208" y="6373368"/>
            <a:ext cx="2743200" cy="274320"/>
          </a:xfrm>
          <a:prstGeom prst="rect">
            <a:avLst/>
          </a:prstGeom>
          <a:noFill/>
        </p:spPr>
        <p:txBody>
          <a:bodyPr wrap="square" lIns="18288" tIns="18288" rIns="18288" bIns="18288" anchor="t">
            <a:spAutoFit/>
          </a:bodyPr>
          <a:lstStyle/>
          <a:p>
            <a:pPr algn="l">
              <a:lnSpc>
                <a:spcPct val="112000"/>
              </a:lnSpc>
              <a:spcAft>
                <a:spcPts val="600"/>
              </a:spcAft>
            </a:pPr>
            <a:r>
              <a:rPr sz="1100" b="0" i="0">
                <a:solidFill>
                  <a:srgbClr val="7A8494"/>
                </a:solidFill>
                <a:latin typeface="Calibri"/>
              </a:rPr>
              <a:t>Step 4 of 5: Cluster</a:t>
            </a:r>
          </a:p>
        </p:txBody>
      </p:sp>
      <p:sp>
        <p:nvSpPr>
          <p:cNvPr id="9" name="TextBox 8"/>
          <p:cNvSpPr txBox="1"/>
          <p:nvPr/>
        </p:nvSpPr>
        <p:spPr>
          <a:xfrm>
            <a:off x="548640" y="411480"/>
            <a:ext cx="11094415" cy="1051560"/>
          </a:xfrm>
          <a:prstGeom prst="rect">
            <a:avLst/>
          </a:prstGeom>
          <a:noFill/>
        </p:spPr>
        <p:txBody>
          <a:bodyPr wrap="square" lIns="18288" tIns="18288" rIns="18288" bIns="18288" anchor="t">
            <a:spAutoFit/>
          </a:bodyPr>
          <a:lstStyle/>
          <a:p>
            <a:pPr algn="l">
              <a:lnSpc>
                <a:spcPct val="100000"/>
              </a:lnSpc>
              <a:spcAft>
                <a:spcPts val="600"/>
              </a:spcAft>
            </a:pPr>
            <a:r>
              <a:rPr sz="3000" b="1" i="0">
                <a:solidFill>
                  <a:srgbClr val="18202B"/>
                </a:solidFill>
                <a:latin typeface="Cambria"/>
              </a:rPr>
              <a:t>Same k-means, 8× better agreement with the true sections</a:t>
            </a:r>
          </a:p>
        </p:txBody>
      </p:sp>
      <p:pic>
        <p:nvPicPr>
          <p:cNvPr id="10" name="Picture 9" descr="confusion.png"/>
          <p:cNvPicPr>
            <a:picLocks noChangeAspect="1"/>
          </p:cNvPicPr>
          <p:nvPr/>
        </p:nvPicPr>
        <p:blipFill>
          <a:blip r:embed="rId3"/>
          <a:stretch>
            <a:fillRect/>
          </a:stretch>
        </p:blipFill>
        <p:spPr>
          <a:xfrm>
            <a:off x="548640" y="1600200"/>
            <a:ext cx="7498079" cy="3336965"/>
          </a:xfrm>
          <a:prstGeom prst="rect">
            <a:avLst/>
          </a:prstGeom>
        </p:spPr>
      </p:pic>
      <p:sp>
        <p:nvSpPr>
          <p:cNvPr id="11" name="TextBox 10"/>
          <p:cNvSpPr txBox="1"/>
          <p:nvPr/>
        </p:nvSpPr>
        <p:spPr>
          <a:xfrm>
            <a:off x="8503920" y="1691640"/>
            <a:ext cx="3200400" cy="731520"/>
          </a:xfrm>
          <a:prstGeom prst="rect">
            <a:avLst/>
          </a:prstGeom>
          <a:noFill/>
        </p:spPr>
        <p:txBody>
          <a:bodyPr wrap="square" lIns="18288" tIns="18288" rIns="18288" bIns="18288" anchor="t">
            <a:spAutoFit/>
          </a:bodyPr>
          <a:lstStyle/>
          <a:p>
            <a:pPr algn="l">
              <a:lnSpc>
                <a:spcPct val="100000"/>
              </a:lnSpc>
              <a:spcAft>
                <a:spcPts val="0"/>
              </a:spcAft>
            </a:pPr>
            <a:r>
              <a:rPr sz="3600" b="1" i="0">
                <a:solidFill>
                  <a:srgbClr val="0F7A80"/>
                </a:solidFill>
                <a:latin typeface="Cambria"/>
              </a:rPr>
              <a:t>0.07 → 0.54</a:t>
            </a:r>
          </a:p>
        </p:txBody>
      </p:sp>
      <p:sp>
        <p:nvSpPr>
          <p:cNvPr id="12" name="TextBox 11"/>
          <p:cNvSpPr txBox="1"/>
          <p:nvPr/>
        </p:nvSpPr>
        <p:spPr>
          <a:xfrm>
            <a:off x="8503920" y="2231136"/>
            <a:ext cx="3200400" cy="822960"/>
          </a:xfrm>
          <a:prstGeom prst="rect">
            <a:avLst/>
          </a:prstGeom>
          <a:noFill/>
        </p:spPr>
        <p:txBody>
          <a:bodyPr wrap="square" lIns="18288" tIns="18288" rIns="18288" bIns="18288" anchor="t">
            <a:spAutoFit/>
          </a:bodyPr>
          <a:lstStyle/>
          <a:p>
            <a:pPr algn="l">
              <a:lnSpc>
                <a:spcPct val="112000"/>
              </a:lnSpc>
              <a:spcAft>
                <a:spcPts val="0"/>
              </a:spcAft>
            </a:pPr>
            <a:r>
              <a:rPr sz="1400" b="0" i="0">
                <a:solidFill>
                  <a:srgbClr val="4D5766"/>
                </a:solidFill>
                <a:latin typeface="Calibri"/>
              </a:rPr>
              <a:t>adjusted Rand index, raw TF-IDF → LSA (0 = chance, 1 = perfect)</a:t>
            </a:r>
          </a:p>
        </p:txBody>
      </p:sp>
      <p:sp>
        <p:nvSpPr>
          <p:cNvPr id="13" name="TextBox 12"/>
          <p:cNvSpPr txBox="1"/>
          <p:nvPr/>
        </p:nvSpPr>
        <p:spPr>
          <a:xfrm>
            <a:off x="8503920" y="3246120"/>
            <a:ext cx="3200400" cy="731520"/>
          </a:xfrm>
          <a:prstGeom prst="rect">
            <a:avLst/>
          </a:prstGeom>
          <a:noFill/>
        </p:spPr>
        <p:txBody>
          <a:bodyPr wrap="square" lIns="18288" tIns="18288" rIns="18288" bIns="18288" anchor="t">
            <a:spAutoFit/>
          </a:bodyPr>
          <a:lstStyle/>
          <a:p>
            <a:pPr algn="l">
              <a:lnSpc>
                <a:spcPct val="100000"/>
              </a:lnSpc>
              <a:spcAft>
                <a:spcPts val="0"/>
              </a:spcAft>
            </a:pPr>
            <a:r>
              <a:rPr sz="3600" b="1" i="0">
                <a:solidFill>
                  <a:srgbClr val="18202B"/>
                </a:solidFill>
                <a:latin typeface="Cambria"/>
              </a:rPr>
              <a:t>0.12 → 0.50</a:t>
            </a:r>
          </a:p>
        </p:txBody>
      </p:sp>
      <p:sp>
        <p:nvSpPr>
          <p:cNvPr id="14" name="TextBox 13"/>
          <p:cNvSpPr txBox="1"/>
          <p:nvPr/>
        </p:nvSpPr>
        <p:spPr>
          <a:xfrm>
            <a:off x="8503920" y="3785615"/>
            <a:ext cx="3200400" cy="822960"/>
          </a:xfrm>
          <a:prstGeom prst="rect">
            <a:avLst/>
          </a:prstGeom>
          <a:noFill/>
        </p:spPr>
        <p:txBody>
          <a:bodyPr wrap="square" lIns="18288" tIns="18288" rIns="18288" bIns="18288" anchor="t">
            <a:spAutoFit/>
          </a:bodyPr>
          <a:lstStyle/>
          <a:p>
            <a:pPr algn="l">
              <a:lnSpc>
                <a:spcPct val="112000"/>
              </a:lnSpc>
              <a:spcAft>
                <a:spcPts val="0"/>
              </a:spcAft>
            </a:pPr>
            <a:r>
              <a:rPr sz="1400" b="0" i="0">
                <a:solidFill>
                  <a:srgbClr val="4D5766"/>
                </a:solidFill>
                <a:latin typeface="Calibri"/>
              </a:rPr>
              <a:t>normalised mutual information</a:t>
            </a:r>
          </a:p>
        </p:txBody>
      </p:sp>
      <p:sp>
        <p:nvSpPr>
          <p:cNvPr id="15" name="TextBox 14"/>
          <p:cNvSpPr txBox="1"/>
          <p:nvPr/>
        </p:nvSpPr>
        <p:spPr>
          <a:xfrm>
            <a:off x="8503920" y="4526280"/>
            <a:ext cx="3200400" cy="1463040"/>
          </a:xfrm>
          <a:prstGeom prst="rect">
            <a:avLst/>
          </a:prstGeom>
          <a:noFill/>
        </p:spPr>
        <p:txBody>
          <a:bodyPr wrap="square" lIns="18288" tIns="18288" rIns="18288" bIns="18288" anchor="t">
            <a:spAutoFit/>
          </a:bodyPr>
          <a:lstStyle/>
          <a:p>
            <a:pPr marL="256032" indent="-201168" algn="l">
              <a:lnSpc>
                <a:spcPct val="112000"/>
              </a:lnSpc>
              <a:spcAft>
                <a:spcPts val="300"/>
              </a:spcAft>
              <a:buChar char="•"/>
            </a:pPr>
            <a:r>
              <a:rPr sz="1300" b="0" i="0">
                <a:solidFill>
                  <a:srgbClr val="4D5766"/>
                </a:solidFill>
                <a:latin typeface="Calibri"/>
              </a:rPr>
              <a:t>Mean of 10 k-means runs with different seeds.</a:t>
            </a:r>
          </a:p>
          <a:p>
            <a:pPr marL="256032" indent="-201168" algn="l">
              <a:lnSpc>
                <a:spcPct val="112000"/>
              </a:lnSpc>
              <a:spcAft>
                <a:spcPts val="300"/>
              </a:spcAft>
              <a:buChar char="•"/>
            </a:pPr>
            <a:r>
              <a:rPr sz="1300" b="0" i="0">
                <a:solidFill>
                  <a:srgbClr val="4D5766"/>
                </a:solidFill>
                <a:latin typeface="Calibri"/>
              </a:rPr>
              <a:t>Both use unit-length vectors, so distance means cosine.</a:t>
            </a:r>
          </a:p>
          <a:p>
            <a:pPr marL="256032" indent="-201168" algn="l">
              <a:lnSpc>
                <a:spcPct val="112000"/>
              </a:lnSpc>
              <a:spcAft>
                <a:spcPts val="300"/>
              </a:spcAft>
              <a:buChar char="•"/>
            </a:pPr>
            <a:r>
              <a:rPr sz="1300" b="0" i="0">
                <a:solidFill>
                  <a:srgbClr val="4D5766"/>
                </a:solidFill>
                <a:latin typeface="Calibri"/>
              </a:rPr>
              <a:t>Only the representation changes: 1,404 words or 5 concepts.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728655" y="6400800"/>
            <a:ext cx="914400" cy="274320"/>
          </a:xfrm>
          <a:prstGeom prst="rect">
            <a:avLst/>
          </a:prstGeom>
          <a:noFill/>
        </p:spPr>
        <p:txBody>
          <a:bodyPr wrap="square" lIns="18288" tIns="18288" rIns="18288" bIns="18288" anchor="t">
            <a:spAutoFit/>
          </a:bodyPr>
          <a:lstStyle/>
          <a:p>
            <a:pPr algn="r">
              <a:lnSpc>
                <a:spcPct val="112000"/>
              </a:lnSpc>
              <a:spcAft>
                <a:spcPts val="600"/>
              </a:spcAft>
            </a:pPr>
            <a:r>
              <a:rPr sz="1100" b="0" i="0">
                <a:solidFill>
                  <a:srgbClr val="7A8494"/>
                </a:solidFill>
                <a:latin typeface="Calibri"/>
              </a:rPr>
              <a:t>14</a:t>
            </a:r>
          </a:p>
        </p:txBody>
      </p:sp>
      <p:sp>
        <p:nvSpPr>
          <p:cNvPr id="3" name="Rectangle 2"/>
          <p:cNvSpPr/>
          <p:nvPr/>
        </p:nvSpPr>
        <p:spPr>
          <a:xfrm>
            <a:off x="548640"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49808"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50976" y="6437376"/>
            <a:ext cx="137160" cy="137160"/>
          </a:xfrm>
          <a:prstGeom prst="rect">
            <a:avLst/>
          </a:prstGeom>
          <a:solidFill>
            <a:srgbClr val="B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353312"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64208" y="6373368"/>
            <a:ext cx="2743200" cy="274320"/>
          </a:xfrm>
          <a:prstGeom prst="rect">
            <a:avLst/>
          </a:prstGeom>
          <a:noFill/>
        </p:spPr>
        <p:txBody>
          <a:bodyPr wrap="square" lIns="18288" tIns="18288" rIns="18288" bIns="18288" anchor="t">
            <a:spAutoFit/>
          </a:bodyPr>
          <a:lstStyle/>
          <a:p>
            <a:pPr algn="l">
              <a:lnSpc>
                <a:spcPct val="112000"/>
              </a:lnSpc>
              <a:spcAft>
                <a:spcPts val="600"/>
              </a:spcAft>
            </a:pPr>
            <a:r>
              <a:rPr sz="1100" b="0" i="0">
                <a:solidFill>
                  <a:srgbClr val="7A8494"/>
                </a:solidFill>
                <a:latin typeface="Calibri"/>
              </a:rPr>
              <a:t>Step 3 of 5: Keep k</a:t>
            </a:r>
          </a:p>
        </p:txBody>
      </p:sp>
      <p:sp>
        <p:nvSpPr>
          <p:cNvPr id="9" name="TextBox 8"/>
          <p:cNvSpPr txBox="1"/>
          <p:nvPr/>
        </p:nvSpPr>
        <p:spPr>
          <a:xfrm>
            <a:off x="548640" y="411480"/>
            <a:ext cx="11094415" cy="1051560"/>
          </a:xfrm>
          <a:prstGeom prst="rect">
            <a:avLst/>
          </a:prstGeom>
          <a:noFill/>
        </p:spPr>
        <p:txBody>
          <a:bodyPr wrap="square" lIns="18288" tIns="18288" rIns="18288" bIns="18288" anchor="t">
            <a:spAutoFit/>
          </a:bodyPr>
          <a:lstStyle/>
          <a:p>
            <a:pPr algn="l">
              <a:lnSpc>
                <a:spcPct val="100000"/>
              </a:lnSpc>
              <a:spcAft>
                <a:spcPts val="600"/>
              </a:spcAft>
            </a:pPr>
            <a:r>
              <a:rPr sz="3000" b="1" i="0">
                <a:solidFill>
                  <a:srgbClr val="18202B"/>
                </a:solidFill>
                <a:latin typeface="Cambria"/>
              </a:rPr>
              <a:t>Too few concepts merge topics; too many bring the noise back</a:t>
            </a:r>
          </a:p>
        </p:txBody>
      </p:sp>
      <p:pic>
        <p:nvPicPr>
          <p:cNvPr id="10" name="Picture 9" descr="k_sweep.png"/>
          <p:cNvPicPr>
            <a:picLocks noChangeAspect="1"/>
          </p:cNvPicPr>
          <p:nvPr/>
        </p:nvPicPr>
        <p:blipFill>
          <a:blip r:embed="rId3"/>
          <a:stretch>
            <a:fillRect/>
          </a:stretch>
        </p:blipFill>
        <p:spPr>
          <a:xfrm>
            <a:off x="548640" y="1554480"/>
            <a:ext cx="7223760" cy="3994890"/>
          </a:xfrm>
          <a:prstGeom prst="rect">
            <a:avLst/>
          </a:prstGeom>
        </p:spPr>
      </p:pic>
      <p:sp>
        <p:nvSpPr>
          <p:cNvPr id="11" name="TextBox 10"/>
          <p:cNvSpPr txBox="1"/>
          <p:nvPr/>
        </p:nvSpPr>
        <p:spPr>
          <a:xfrm>
            <a:off x="8138160" y="1691640"/>
            <a:ext cx="3504895" cy="4114800"/>
          </a:xfrm>
          <a:prstGeom prst="rect">
            <a:avLst/>
          </a:prstGeom>
          <a:noFill/>
        </p:spPr>
        <p:txBody>
          <a:bodyPr wrap="square" lIns="18288" tIns="18288" rIns="18288" bIns="18288" anchor="t">
            <a:spAutoFit/>
          </a:bodyPr>
          <a:lstStyle/>
          <a:p>
            <a:pPr algn="l">
              <a:lnSpc>
                <a:spcPct val="112000"/>
              </a:lnSpc>
              <a:spcAft>
                <a:spcPts val="1200"/>
              </a:spcAft>
            </a:pPr>
            <a:r>
              <a:rPr sz="1500" b="1" i="0">
                <a:solidFill>
                  <a:srgbClr val="18202B"/>
                </a:solidFill>
                <a:latin typeface="Calibri"/>
              </a:rPr>
              <a:t>Rising: </a:t>
            </a:r>
            <a:r>
              <a:rPr sz="1500" b="0" i="0">
                <a:solidFill>
                  <a:srgbClr val="4D5766"/>
                </a:solidFill>
                <a:latin typeface="Calibri"/>
              </a:rPr>
              <a:t>each new concept separates another real topic.</a:t>
            </a:r>
          </a:p>
          <a:p>
            <a:pPr algn="l">
              <a:lnSpc>
                <a:spcPct val="112000"/>
              </a:lnSpc>
              <a:spcAft>
                <a:spcPts val="1200"/>
              </a:spcAft>
            </a:pPr>
            <a:r>
              <a:rPr sz="1500" b="1" i="0">
                <a:solidFill>
                  <a:srgbClr val="18202B"/>
                </a:solidFill>
                <a:latin typeface="Calibri"/>
              </a:rPr>
              <a:t>Peak at k = 5: </a:t>
            </a:r>
            <a:r>
              <a:rPr sz="1500" b="0" i="0">
                <a:solidFill>
                  <a:srgbClr val="4D5766"/>
                </a:solidFill>
                <a:latin typeface="Calibri"/>
              </a:rPr>
              <a:t>ARI 0.54.</a:t>
            </a:r>
          </a:p>
          <a:p>
            <a:pPr algn="l">
              <a:lnSpc>
                <a:spcPct val="112000"/>
              </a:lnSpc>
              <a:spcAft>
                <a:spcPts val="1200"/>
              </a:spcAft>
            </a:pPr>
            <a:r>
              <a:rPr sz="1500" b="1" i="0">
                <a:solidFill>
                  <a:srgbClr val="18202B"/>
                </a:solidFill>
                <a:latin typeface="Calibri"/>
              </a:rPr>
              <a:t>Falling: </a:t>
            </a:r>
            <a:r>
              <a:rPr sz="1500" b="0" i="0">
                <a:solidFill>
                  <a:srgbClr val="4D5766"/>
                </a:solidFill>
                <a:latin typeface="Calibri"/>
              </a:rPr>
              <a:t>extra concepts describe single articles, and the space drifts back towards raw TF-IDF.</a:t>
            </a:r>
          </a:p>
          <a:p>
            <a:pPr algn="l">
              <a:lnSpc>
                <a:spcPct val="112000"/>
              </a:lnSpc>
              <a:spcAft>
                <a:spcPts val="1200"/>
              </a:spcAft>
            </a:pPr>
            <a:r>
              <a:rPr sz="1500" b="1" i="0">
                <a:solidFill>
                  <a:srgbClr val="18202B"/>
                </a:solidFill>
                <a:latin typeface="Calibri"/>
              </a:rPr>
              <a:t>Without labels: </a:t>
            </a:r>
            <a:r>
              <a:rPr sz="1500" b="0" i="0">
                <a:solidFill>
                  <a:srgbClr val="4D5766"/>
                </a:solidFill>
                <a:latin typeface="Calibri"/>
              </a:rPr>
              <a:t>choose k at the elbow of the singular values, or where the clusters are stable across seeds.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728655" y="6400800"/>
            <a:ext cx="914400" cy="274320"/>
          </a:xfrm>
          <a:prstGeom prst="rect">
            <a:avLst/>
          </a:prstGeom>
          <a:noFill/>
        </p:spPr>
        <p:txBody>
          <a:bodyPr wrap="square" lIns="18288" tIns="18288" rIns="18288" bIns="18288" anchor="t">
            <a:spAutoFit/>
          </a:bodyPr>
          <a:lstStyle/>
          <a:p>
            <a:pPr algn="r">
              <a:lnSpc>
                <a:spcPct val="112000"/>
              </a:lnSpc>
              <a:spcAft>
                <a:spcPts val="600"/>
              </a:spcAft>
            </a:pPr>
            <a:r>
              <a:rPr sz="1100" b="0" i="0">
                <a:solidFill>
                  <a:srgbClr val="7A8494"/>
                </a:solidFill>
                <a:latin typeface="Calibri"/>
              </a:rPr>
              <a:t>15</a:t>
            </a:r>
          </a:p>
        </p:txBody>
      </p:sp>
      <p:sp>
        <p:nvSpPr>
          <p:cNvPr id="3" name="Rectangle 2"/>
          <p:cNvSpPr/>
          <p:nvPr/>
        </p:nvSpPr>
        <p:spPr>
          <a:xfrm>
            <a:off x="548640"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49808"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50976"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 y="6437376"/>
            <a:ext cx="137160" cy="13716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353312" y="6437376"/>
            <a:ext cx="137160" cy="137160"/>
          </a:xfrm>
          <a:prstGeom prst="rect">
            <a:avLst/>
          </a:prstGeom>
          <a:solidFill>
            <a:srgbClr val="0F7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64208" y="6373368"/>
            <a:ext cx="2743200" cy="274320"/>
          </a:xfrm>
          <a:prstGeom prst="rect">
            <a:avLst/>
          </a:prstGeom>
          <a:noFill/>
        </p:spPr>
        <p:txBody>
          <a:bodyPr wrap="square" lIns="18288" tIns="18288" rIns="18288" bIns="18288" anchor="t">
            <a:spAutoFit/>
          </a:bodyPr>
          <a:lstStyle/>
          <a:p>
            <a:pPr algn="l">
              <a:lnSpc>
                <a:spcPct val="112000"/>
              </a:lnSpc>
              <a:spcAft>
                <a:spcPts val="600"/>
              </a:spcAft>
            </a:pPr>
            <a:r>
              <a:rPr sz="1100" b="0" i="0">
                <a:solidFill>
                  <a:srgbClr val="7A8494"/>
                </a:solidFill>
                <a:latin typeface="Calibri"/>
              </a:rPr>
              <a:t>Step 5 of 5: Search</a:t>
            </a:r>
          </a:p>
        </p:txBody>
      </p:sp>
      <p:sp>
        <p:nvSpPr>
          <p:cNvPr id="9" name="TextBox 8"/>
          <p:cNvSpPr txBox="1"/>
          <p:nvPr/>
        </p:nvSpPr>
        <p:spPr>
          <a:xfrm>
            <a:off x="548640" y="411480"/>
            <a:ext cx="11094415" cy="1051560"/>
          </a:xfrm>
          <a:prstGeom prst="rect">
            <a:avLst/>
          </a:prstGeom>
          <a:noFill/>
        </p:spPr>
        <p:txBody>
          <a:bodyPr wrap="square" lIns="18288" tIns="18288" rIns="18288" bIns="18288" anchor="t">
            <a:spAutoFit/>
          </a:bodyPr>
          <a:lstStyle/>
          <a:p>
            <a:pPr algn="l">
              <a:lnSpc>
                <a:spcPct val="100000"/>
              </a:lnSpc>
              <a:spcAft>
                <a:spcPts val="600"/>
              </a:spcAft>
            </a:pPr>
            <a:r>
              <a:rPr sz="3000" b="1" i="0">
                <a:solidFill>
                  <a:srgbClr val="18202B"/>
                </a:solidFill>
                <a:latin typeface="Cambria"/>
              </a:rPr>
              <a:t>Folding in a query finds relevant articles that share none of its words</a:t>
            </a:r>
          </a:p>
        </p:txBody>
      </p:sp>
      <p:pic>
        <p:nvPicPr>
          <p:cNvPr id="10" name="Picture 9" descr="eq_2333fcad1ff0.png"/>
          <p:cNvPicPr>
            <a:picLocks noChangeAspect="1"/>
          </p:cNvPicPr>
          <p:nvPr/>
        </p:nvPicPr>
        <p:blipFill>
          <a:blip r:embed="rId3"/>
          <a:stretch>
            <a:fillRect/>
          </a:stretch>
        </p:blipFill>
        <p:spPr>
          <a:xfrm>
            <a:off x="548640" y="1600200"/>
            <a:ext cx="4870704" cy="368808"/>
          </a:xfrm>
          <a:prstGeom prst="rect">
            <a:avLst/>
          </a:prstGeom>
        </p:spPr>
      </p:pic>
      <p:sp>
        <p:nvSpPr>
          <p:cNvPr id="11" name="TextBox 10"/>
          <p:cNvSpPr txBox="1"/>
          <p:nvPr/>
        </p:nvSpPr>
        <p:spPr>
          <a:xfrm>
            <a:off x="548640" y="2286000"/>
            <a:ext cx="6400800" cy="365760"/>
          </a:xfrm>
          <a:prstGeom prst="rect">
            <a:avLst/>
          </a:prstGeom>
          <a:noFill/>
        </p:spPr>
        <p:txBody>
          <a:bodyPr wrap="square" lIns="18288" tIns="18288" rIns="18288" bIns="18288" anchor="t">
            <a:spAutoFit/>
          </a:bodyPr>
          <a:lstStyle/>
          <a:p>
            <a:pPr algn="l">
              <a:lnSpc>
                <a:spcPct val="112000"/>
              </a:lnSpc>
              <a:spcAft>
                <a:spcPts val="600"/>
              </a:spcAft>
            </a:pPr>
            <a:r>
              <a:rPr sz="1600" b="1" i="0">
                <a:solidFill>
                  <a:srgbClr val="18202B"/>
                </a:solidFill>
                <a:latin typeface="Calibri"/>
              </a:rPr>
              <a:t>Query: </a:t>
            </a:r>
            <a:r>
              <a:rPr sz="1600" b="0" i="1">
                <a:solidFill>
                  <a:srgbClr val="18202B"/>
                </a:solidFill>
                <a:latin typeface="Calibri"/>
              </a:rPr>
              <a:t>computer virus</a:t>
            </a:r>
            <a:r>
              <a:rPr sz="1300" b="0" i="0">
                <a:solidFill>
                  <a:srgbClr val="7A8494"/>
                </a:solidFill>
                <a:latin typeface="Calibri"/>
              </a:rPr>
              <a:t>   (“virus” is not in the vocabulary)</a:t>
            </a:r>
          </a:p>
        </p:txBody>
      </p:sp>
      <p:graphicFrame>
        <p:nvGraphicFramePr>
          <p:cNvPr id="12" name="Table 11"/>
          <p:cNvGraphicFramePr>
            <a:graphicFrameLocks noGrp="1"/>
          </p:cNvGraphicFramePr>
          <p:nvPr/>
        </p:nvGraphicFramePr>
        <p:xfrm>
          <a:off x="548640" y="2788920"/>
          <a:ext cx="7863840" cy="301752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502920">
                <a:tc>
                  <a:txBody>
                    <a:bodyPr/>
                    <a:lstStyle/>
                    <a:p>
                      <a:pPr algn="l"/>
                      <a:r>
                        <a:rPr sz="1200" b="1">
                          <a:solidFill>
                            <a:srgbClr val="FFFFFF"/>
                          </a:solidFill>
                          <a:latin typeface="Calibri"/>
                        </a:rPr>
                        <a:t>Article</a:t>
                      </a:r>
                    </a:p>
                  </a:txBody>
                  <a:tcPr anchor="ctr">
                    <a:solidFill>
                      <a:srgbClr val="18202B"/>
                    </a:solidFill>
                  </a:tcPr>
                </a:tc>
                <a:tc>
                  <a:txBody>
                    <a:bodyPr/>
                    <a:lstStyle/>
                    <a:p>
                      <a:pPr algn="l"/>
                      <a:r>
                        <a:rPr sz="1200" b="1">
                          <a:solidFill>
                            <a:srgbClr val="FFFFFF"/>
                          </a:solidFill>
                          <a:latin typeface="Calibri"/>
                        </a:rPr>
                        <a:t>Shared words</a:t>
                      </a:r>
                    </a:p>
                  </a:txBody>
                  <a:tcPr anchor="ctr">
                    <a:solidFill>
                      <a:srgbClr val="18202B"/>
                    </a:solidFill>
                  </a:tcPr>
                </a:tc>
                <a:tc>
                  <a:txBody>
                    <a:bodyPr/>
                    <a:lstStyle/>
                    <a:p>
                      <a:pPr algn="r"/>
                      <a:r>
                        <a:rPr sz="1200" b="1">
                          <a:solidFill>
                            <a:srgbClr val="FFFFFF"/>
                          </a:solidFill>
                          <a:latin typeface="Calibri"/>
                        </a:rPr>
                        <a:t>Keyword score</a:t>
                      </a:r>
                    </a:p>
                  </a:txBody>
                  <a:tcPr anchor="ctr">
                    <a:solidFill>
                      <a:srgbClr val="18202B"/>
                    </a:solidFill>
                  </a:tcPr>
                </a:tc>
                <a:tc>
                  <a:txBody>
                    <a:bodyPr/>
                    <a:lstStyle/>
                    <a:p>
                      <a:pPr algn="r"/>
                      <a:r>
                        <a:rPr sz="1200" b="1">
                          <a:solidFill>
                            <a:srgbClr val="FFFFFF"/>
                          </a:solidFill>
                          <a:latin typeface="Calibri"/>
                        </a:rPr>
                        <a:t>LSA score</a:t>
                      </a:r>
                    </a:p>
                  </a:txBody>
                  <a:tcPr anchor="ctr">
                    <a:solidFill>
                      <a:srgbClr val="18202B"/>
                    </a:solidFill>
                  </a:tcPr>
                </a:tc>
                <a:extLst>
                  <a:ext uri="{0D108BD9-81ED-4DB2-BD59-A6C34878D82A}">
                    <a16:rowId xmlns:a16="http://schemas.microsoft.com/office/drawing/2014/main" val="10000"/>
                  </a:ext>
                </a:extLst>
              </a:tr>
              <a:tr h="502920">
                <a:tc>
                  <a:txBody>
                    <a:bodyPr/>
                    <a:lstStyle/>
                    <a:p>
                      <a:pPr algn="l"/>
                      <a:r>
                        <a:rPr sz="1300" b="0">
                          <a:solidFill>
                            <a:srgbClr val="18202B"/>
                          </a:solidFill>
                          <a:latin typeface="Calibri"/>
                        </a:rPr>
                        <a:t>SBC Gives Microsoft $400 Mln Internet TV Deal</a:t>
                      </a:r>
                    </a:p>
                  </a:txBody>
                  <a:tcPr anchor="ctr">
                    <a:solidFill>
                      <a:srgbClr val="F7EFDD"/>
                    </a:solidFill>
                  </a:tcPr>
                </a:tc>
                <a:tc>
                  <a:txBody>
                    <a:bodyPr/>
                    <a:lstStyle/>
                    <a:p>
                      <a:pPr algn="l"/>
                      <a:r>
                        <a:rPr sz="1300" b="0">
                          <a:solidFill>
                            <a:srgbClr val="18202B"/>
                          </a:solidFill>
                          <a:latin typeface="Calibri"/>
                        </a:rPr>
                        <a:t>none</a:t>
                      </a:r>
                    </a:p>
                  </a:txBody>
                  <a:tcPr anchor="ctr">
                    <a:solidFill>
                      <a:srgbClr val="F7EFDD"/>
                    </a:solidFill>
                  </a:tcPr>
                </a:tc>
                <a:tc>
                  <a:txBody>
                    <a:bodyPr/>
                    <a:lstStyle/>
                    <a:p>
                      <a:pPr algn="r"/>
                      <a:r>
                        <a:rPr sz="1300" b="0">
                          <a:solidFill>
                            <a:srgbClr val="18202B"/>
                          </a:solidFill>
                          <a:latin typeface="Calibri"/>
                        </a:rPr>
                        <a:t>0.00</a:t>
                      </a:r>
                    </a:p>
                  </a:txBody>
                  <a:tcPr anchor="ctr">
                    <a:solidFill>
                      <a:srgbClr val="F7EFDD"/>
                    </a:solidFill>
                  </a:tcPr>
                </a:tc>
                <a:tc>
                  <a:txBody>
                    <a:bodyPr/>
                    <a:lstStyle/>
                    <a:p>
                      <a:pPr algn="r"/>
                      <a:r>
                        <a:rPr sz="1300" b="0">
                          <a:solidFill>
                            <a:srgbClr val="18202B"/>
                          </a:solidFill>
                          <a:latin typeface="Calibri"/>
                        </a:rPr>
                        <a:t>0.97</a:t>
                      </a:r>
                    </a:p>
                  </a:txBody>
                  <a:tcPr anchor="ctr">
                    <a:solidFill>
                      <a:srgbClr val="F7EFDD"/>
                    </a:solidFill>
                  </a:tcPr>
                </a:tc>
                <a:extLst>
                  <a:ext uri="{0D108BD9-81ED-4DB2-BD59-A6C34878D82A}">
                    <a16:rowId xmlns:a16="http://schemas.microsoft.com/office/drawing/2014/main" val="10001"/>
                  </a:ext>
                </a:extLst>
              </a:tr>
              <a:tr h="502920">
                <a:tc>
                  <a:txBody>
                    <a:bodyPr/>
                    <a:lstStyle/>
                    <a:p>
                      <a:pPr algn="l"/>
                      <a:r>
                        <a:rPr sz="1300" b="0">
                          <a:solidFill>
                            <a:srgbClr val="18202B"/>
                          </a:solidFill>
                          <a:latin typeface="Calibri"/>
                        </a:rPr>
                        <a:t>Microsoft To OK One License for Multicore Chips</a:t>
                      </a:r>
                    </a:p>
                  </a:txBody>
                  <a:tcPr anchor="ctr">
                    <a:solidFill>
                      <a:srgbClr val="F7EFDD"/>
                    </a:solidFill>
                  </a:tcPr>
                </a:tc>
                <a:tc>
                  <a:txBody>
                    <a:bodyPr/>
                    <a:lstStyle/>
                    <a:p>
                      <a:pPr algn="l"/>
                      <a:r>
                        <a:rPr sz="1300" b="0">
                          <a:solidFill>
                            <a:srgbClr val="18202B"/>
                          </a:solidFill>
                          <a:latin typeface="Calibri"/>
                        </a:rPr>
                        <a:t>none</a:t>
                      </a:r>
                    </a:p>
                  </a:txBody>
                  <a:tcPr anchor="ctr">
                    <a:solidFill>
                      <a:srgbClr val="F7EFDD"/>
                    </a:solidFill>
                  </a:tcPr>
                </a:tc>
                <a:tc>
                  <a:txBody>
                    <a:bodyPr/>
                    <a:lstStyle/>
                    <a:p>
                      <a:pPr algn="r"/>
                      <a:r>
                        <a:rPr sz="1300" b="0">
                          <a:solidFill>
                            <a:srgbClr val="18202B"/>
                          </a:solidFill>
                          <a:latin typeface="Calibri"/>
                        </a:rPr>
                        <a:t>0.00</a:t>
                      </a:r>
                    </a:p>
                  </a:txBody>
                  <a:tcPr anchor="ctr">
                    <a:solidFill>
                      <a:srgbClr val="F7EFDD"/>
                    </a:solidFill>
                  </a:tcPr>
                </a:tc>
                <a:tc>
                  <a:txBody>
                    <a:bodyPr/>
                    <a:lstStyle/>
                    <a:p>
                      <a:pPr algn="r"/>
                      <a:r>
                        <a:rPr sz="1300" b="0">
                          <a:solidFill>
                            <a:srgbClr val="18202B"/>
                          </a:solidFill>
                          <a:latin typeface="Calibri"/>
                        </a:rPr>
                        <a:t>0.96</a:t>
                      </a:r>
                    </a:p>
                  </a:txBody>
                  <a:tcPr anchor="ctr">
                    <a:solidFill>
                      <a:srgbClr val="F7EFDD"/>
                    </a:solidFill>
                  </a:tcPr>
                </a:tc>
                <a:extLst>
                  <a:ext uri="{0D108BD9-81ED-4DB2-BD59-A6C34878D82A}">
                    <a16:rowId xmlns:a16="http://schemas.microsoft.com/office/drawing/2014/main" val="10002"/>
                  </a:ext>
                </a:extLst>
              </a:tr>
              <a:tr h="502920">
                <a:tc>
                  <a:txBody>
                    <a:bodyPr/>
                    <a:lstStyle/>
                    <a:p>
                      <a:pPr algn="l"/>
                      <a:r>
                        <a:rPr sz="1300" b="0">
                          <a:solidFill>
                            <a:srgbClr val="18202B"/>
                          </a:solidFill>
                          <a:latin typeface="Calibri"/>
                        </a:rPr>
                        <a:t>NHS signs nine-year extension with Microsoft</a:t>
                      </a:r>
                    </a:p>
                  </a:txBody>
                  <a:tcPr anchor="ctr">
                    <a:solidFill>
                      <a:srgbClr val="F7EFDD"/>
                    </a:solidFill>
                  </a:tcPr>
                </a:tc>
                <a:tc>
                  <a:txBody>
                    <a:bodyPr/>
                    <a:lstStyle/>
                    <a:p>
                      <a:pPr algn="l"/>
                      <a:r>
                        <a:rPr sz="1300" b="0">
                          <a:solidFill>
                            <a:srgbClr val="18202B"/>
                          </a:solidFill>
                          <a:latin typeface="Calibri"/>
                        </a:rPr>
                        <a:t>none</a:t>
                      </a:r>
                    </a:p>
                  </a:txBody>
                  <a:tcPr anchor="ctr">
                    <a:solidFill>
                      <a:srgbClr val="F7EFDD"/>
                    </a:solidFill>
                  </a:tcPr>
                </a:tc>
                <a:tc>
                  <a:txBody>
                    <a:bodyPr/>
                    <a:lstStyle/>
                    <a:p>
                      <a:pPr algn="r"/>
                      <a:r>
                        <a:rPr sz="1300" b="0">
                          <a:solidFill>
                            <a:srgbClr val="18202B"/>
                          </a:solidFill>
                          <a:latin typeface="Calibri"/>
                        </a:rPr>
                        <a:t>0.00</a:t>
                      </a:r>
                    </a:p>
                  </a:txBody>
                  <a:tcPr anchor="ctr">
                    <a:solidFill>
                      <a:srgbClr val="F7EFDD"/>
                    </a:solidFill>
                  </a:tcPr>
                </a:tc>
                <a:tc>
                  <a:txBody>
                    <a:bodyPr/>
                    <a:lstStyle/>
                    <a:p>
                      <a:pPr algn="r"/>
                      <a:r>
                        <a:rPr sz="1300" b="0">
                          <a:solidFill>
                            <a:srgbClr val="18202B"/>
                          </a:solidFill>
                          <a:latin typeface="Calibri"/>
                        </a:rPr>
                        <a:t>0.95</a:t>
                      </a:r>
                    </a:p>
                  </a:txBody>
                  <a:tcPr anchor="ctr">
                    <a:solidFill>
                      <a:srgbClr val="F7EFDD"/>
                    </a:solidFill>
                  </a:tcPr>
                </a:tc>
                <a:extLst>
                  <a:ext uri="{0D108BD9-81ED-4DB2-BD59-A6C34878D82A}">
                    <a16:rowId xmlns:a16="http://schemas.microsoft.com/office/drawing/2014/main" val="10003"/>
                  </a:ext>
                </a:extLst>
              </a:tr>
              <a:tr h="502920">
                <a:tc>
                  <a:txBody>
                    <a:bodyPr/>
                    <a:lstStyle/>
                    <a:p>
                      <a:pPr algn="l"/>
                      <a:r>
                        <a:rPr sz="1300" b="0">
                          <a:solidFill>
                            <a:srgbClr val="18202B"/>
                          </a:solidFill>
                          <a:latin typeface="Calibri"/>
                        </a:rPr>
                        <a:t>IBM reported to be exiting PC business</a:t>
                      </a:r>
                    </a:p>
                  </a:txBody>
                  <a:tcPr anchor="ctr">
                    <a:solidFill>
                      <a:srgbClr val="FFFFFF"/>
                    </a:solidFill>
                  </a:tcPr>
                </a:tc>
                <a:tc>
                  <a:txBody>
                    <a:bodyPr/>
                    <a:lstStyle/>
                    <a:p>
                      <a:pPr algn="l"/>
                      <a:r>
                        <a:rPr sz="1300" b="0">
                          <a:solidFill>
                            <a:srgbClr val="18202B"/>
                          </a:solidFill>
                          <a:latin typeface="Calibri"/>
                        </a:rPr>
                        <a:t>computer</a:t>
                      </a:r>
                    </a:p>
                  </a:txBody>
                  <a:tcPr anchor="ctr">
                    <a:solidFill>
                      <a:srgbClr val="FFFFFF"/>
                    </a:solidFill>
                  </a:tcPr>
                </a:tc>
                <a:tc>
                  <a:txBody>
                    <a:bodyPr/>
                    <a:lstStyle/>
                    <a:p>
                      <a:pPr algn="r"/>
                      <a:r>
                        <a:rPr sz="1300" b="0">
                          <a:solidFill>
                            <a:srgbClr val="18202B"/>
                          </a:solidFill>
                          <a:latin typeface="Calibri"/>
                        </a:rPr>
                        <a:t>0.24</a:t>
                      </a:r>
                    </a:p>
                  </a:txBody>
                  <a:tcPr anchor="ctr">
                    <a:solidFill>
                      <a:srgbClr val="FFFFFF"/>
                    </a:solidFill>
                  </a:tcPr>
                </a:tc>
                <a:tc>
                  <a:txBody>
                    <a:bodyPr/>
                    <a:lstStyle/>
                    <a:p>
                      <a:pPr algn="r"/>
                      <a:r>
                        <a:rPr sz="1300" b="0">
                          <a:solidFill>
                            <a:srgbClr val="18202B"/>
                          </a:solidFill>
                          <a:latin typeface="Calibri"/>
                        </a:rPr>
                        <a:t>0.94</a:t>
                      </a:r>
                    </a:p>
                  </a:txBody>
                  <a:tcPr anchor="ctr">
                    <a:solidFill>
                      <a:srgbClr val="FFFFFF"/>
                    </a:solidFill>
                  </a:tcPr>
                </a:tc>
                <a:extLst>
                  <a:ext uri="{0D108BD9-81ED-4DB2-BD59-A6C34878D82A}">
                    <a16:rowId xmlns:a16="http://schemas.microsoft.com/office/drawing/2014/main" val="10004"/>
                  </a:ext>
                </a:extLst>
              </a:tr>
              <a:tr h="502920">
                <a:tc>
                  <a:txBody>
                    <a:bodyPr/>
                    <a:lstStyle/>
                    <a:p>
                      <a:pPr algn="l"/>
                      <a:r>
                        <a:rPr sz="1300" b="0">
                          <a:solidFill>
                            <a:srgbClr val="18202B"/>
                          </a:solidFill>
                          <a:latin typeface="Calibri"/>
                        </a:rPr>
                        <a:t>Business News for Technology Leaders Microsoft …</a:t>
                      </a:r>
                    </a:p>
                  </a:txBody>
                  <a:tcPr anchor="ctr">
                    <a:solidFill>
                      <a:srgbClr val="F7EFDD"/>
                    </a:solidFill>
                  </a:tcPr>
                </a:tc>
                <a:tc>
                  <a:txBody>
                    <a:bodyPr/>
                    <a:lstStyle/>
                    <a:p>
                      <a:pPr algn="l"/>
                      <a:r>
                        <a:rPr sz="1300" b="0">
                          <a:solidFill>
                            <a:srgbClr val="18202B"/>
                          </a:solidFill>
                          <a:latin typeface="Calibri"/>
                        </a:rPr>
                        <a:t>none</a:t>
                      </a:r>
                    </a:p>
                  </a:txBody>
                  <a:tcPr anchor="ctr">
                    <a:solidFill>
                      <a:srgbClr val="F7EFDD"/>
                    </a:solidFill>
                  </a:tcPr>
                </a:tc>
                <a:tc>
                  <a:txBody>
                    <a:bodyPr/>
                    <a:lstStyle/>
                    <a:p>
                      <a:pPr algn="r"/>
                      <a:r>
                        <a:rPr sz="1300" b="0">
                          <a:solidFill>
                            <a:srgbClr val="18202B"/>
                          </a:solidFill>
                          <a:latin typeface="Calibri"/>
                        </a:rPr>
                        <a:t>0.00</a:t>
                      </a:r>
                    </a:p>
                  </a:txBody>
                  <a:tcPr anchor="ctr">
                    <a:solidFill>
                      <a:srgbClr val="F7EFDD"/>
                    </a:solidFill>
                  </a:tcPr>
                </a:tc>
                <a:tc>
                  <a:txBody>
                    <a:bodyPr/>
                    <a:lstStyle/>
                    <a:p>
                      <a:pPr algn="r"/>
                      <a:r>
                        <a:rPr sz="1300" b="0">
                          <a:solidFill>
                            <a:srgbClr val="18202B"/>
                          </a:solidFill>
                          <a:latin typeface="Calibri"/>
                        </a:rPr>
                        <a:t>0.94</a:t>
                      </a:r>
                    </a:p>
                  </a:txBody>
                  <a:tcPr anchor="ctr">
                    <a:solidFill>
                      <a:srgbClr val="F7EFDD"/>
                    </a:solid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8915400" y="2788920"/>
            <a:ext cx="2743200" cy="731520"/>
          </a:xfrm>
          <a:prstGeom prst="rect">
            <a:avLst/>
          </a:prstGeom>
          <a:noFill/>
        </p:spPr>
        <p:txBody>
          <a:bodyPr wrap="square" lIns="18288" tIns="18288" rIns="18288" bIns="18288" anchor="t">
            <a:spAutoFit/>
          </a:bodyPr>
          <a:lstStyle/>
          <a:p>
            <a:pPr algn="l">
              <a:lnSpc>
                <a:spcPct val="100000"/>
              </a:lnSpc>
              <a:spcAft>
                <a:spcPts val="0"/>
              </a:spcAft>
            </a:pPr>
            <a:r>
              <a:rPr sz="3600" b="1" i="0">
                <a:solidFill>
                  <a:srgbClr val="18202B"/>
                </a:solidFill>
                <a:latin typeface="Cambria"/>
              </a:rPr>
              <a:t>8</a:t>
            </a:r>
          </a:p>
        </p:txBody>
      </p:sp>
      <p:sp>
        <p:nvSpPr>
          <p:cNvPr id="14" name="TextBox 13"/>
          <p:cNvSpPr txBox="1"/>
          <p:nvPr/>
        </p:nvSpPr>
        <p:spPr>
          <a:xfrm>
            <a:off x="8915400" y="3328415"/>
            <a:ext cx="2743200" cy="822960"/>
          </a:xfrm>
          <a:prstGeom prst="rect">
            <a:avLst/>
          </a:prstGeom>
          <a:noFill/>
        </p:spPr>
        <p:txBody>
          <a:bodyPr wrap="square" lIns="18288" tIns="18288" rIns="18288" bIns="18288" anchor="t">
            <a:spAutoFit/>
          </a:bodyPr>
          <a:lstStyle/>
          <a:p>
            <a:pPr algn="l">
              <a:lnSpc>
                <a:spcPct val="112000"/>
              </a:lnSpc>
              <a:spcAft>
                <a:spcPts val="0"/>
              </a:spcAft>
            </a:pPr>
            <a:r>
              <a:rPr sz="1400" b="0" i="0">
                <a:solidFill>
                  <a:srgbClr val="4D5766"/>
                </a:solidFill>
                <a:latin typeface="Calibri"/>
              </a:rPr>
              <a:t>articles contain a query word: all keyword search can find</a:t>
            </a:r>
          </a:p>
        </p:txBody>
      </p:sp>
      <p:sp>
        <p:nvSpPr>
          <p:cNvPr id="15" name="TextBox 14"/>
          <p:cNvSpPr txBox="1"/>
          <p:nvPr/>
        </p:nvSpPr>
        <p:spPr>
          <a:xfrm>
            <a:off x="8915400" y="4343400"/>
            <a:ext cx="2743200" cy="731520"/>
          </a:xfrm>
          <a:prstGeom prst="rect">
            <a:avLst/>
          </a:prstGeom>
          <a:noFill/>
        </p:spPr>
        <p:txBody>
          <a:bodyPr wrap="square" lIns="18288" tIns="18288" rIns="18288" bIns="18288" anchor="t">
            <a:spAutoFit/>
          </a:bodyPr>
          <a:lstStyle/>
          <a:p>
            <a:pPr algn="l">
              <a:lnSpc>
                <a:spcPct val="100000"/>
              </a:lnSpc>
              <a:spcAft>
                <a:spcPts val="0"/>
              </a:spcAft>
            </a:pPr>
            <a:r>
              <a:rPr sz="3600" b="1" i="0">
                <a:solidFill>
                  <a:srgbClr val="0F7A80"/>
                </a:solidFill>
                <a:latin typeface="Cambria"/>
              </a:rPr>
              <a:t>9 of 10</a:t>
            </a:r>
          </a:p>
        </p:txBody>
      </p:sp>
      <p:sp>
        <p:nvSpPr>
          <p:cNvPr id="16" name="TextBox 15"/>
          <p:cNvSpPr txBox="1"/>
          <p:nvPr/>
        </p:nvSpPr>
        <p:spPr>
          <a:xfrm>
            <a:off x="8915400" y="4882896"/>
            <a:ext cx="2743200" cy="822960"/>
          </a:xfrm>
          <a:prstGeom prst="rect">
            <a:avLst/>
          </a:prstGeom>
          <a:noFill/>
        </p:spPr>
        <p:txBody>
          <a:bodyPr wrap="square" lIns="18288" tIns="18288" rIns="18288" bIns="18288" anchor="t">
            <a:spAutoFit/>
          </a:bodyPr>
          <a:lstStyle/>
          <a:p>
            <a:pPr algn="l">
              <a:lnSpc>
                <a:spcPct val="112000"/>
              </a:lnSpc>
              <a:spcAft>
                <a:spcPts val="0"/>
              </a:spcAft>
            </a:pPr>
            <a:r>
              <a:rPr sz="1400" b="0" i="0">
                <a:solidFill>
                  <a:srgbClr val="4D5766"/>
                </a:solidFill>
                <a:latin typeface="Calibri"/>
              </a:rPr>
              <a:t>top LSA results share no word with the query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728655" y="6400800"/>
            <a:ext cx="914400" cy="274320"/>
          </a:xfrm>
          <a:prstGeom prst="rect">
            <a:avLst/>
          </a:prstGeom>
          <a:noFill/>
        </p:spPr>
        <p:txBody>
          <a:bodyPr wrap="square" lIns="18288" tIns="18288" rIns="18288" bIns="18288" anchor="t">
            <a:spAutoFit/>
          </a:bodyPr>
          <a:lstStyle/>
          <a:p>
            <a:pPr algn="r">
              <a:lnSpc>
                <a:spcPct val="112000"/>
              </a:lnSpc>
              <a:spcAft>
                <a:spcPts val="600"/>
              </a:spcAft>
            </a:pPr>
            <a:r>
              <a:rPr sz="1100" b="0" i="0">
                <a:solidFill>
                  <a:srgbClr val="7A8494"/>
                </a:solidFill>
                <a:latin typeface="Calibri"/>
              </a:rPr>
              <a:t>16</a:t>
            </a:r>
          </a:p>
        </p:txBody>
      </p:sp>
      <p:sp>
        <p:nvSpPr>
          <p:cNvPr id="3" name="TextBox 2"/>
          <p:cNvSpPr txBox="1"/>
          <p:nvPr/>
        </p:nvSpPr>
        <p:spPr>
          <a:xfrm>
            <a:off x="548640" y="411480"/>
            <a:ext cx="11094415" cy="1051560"/>
          </a:xfrm>
          <a:prstGeom prst="rect">
            <a:avLst/>
          </a:prstGeom>
          <a:noFill/>
        </p:spPr>
        <p:txBody>
          <a:bodyPr wrap="square" lIns="18288" tIns="18288" rIns="18288" bIns="18288" anchor="t">
            <a:spAutoFit/>
          </a:bodyPr>
          <a:lstStyle/>
          <a:p>
            <a:pPr algn="l">
              <a:lnSpc>
                <a:spcPct val="100000"/>
              </a:lnSpc>
              <a:spcAft>
                <a:spcPts val="600"/>
              </a:spcAft>
            </a:pPr>
            <a:r>
              <a:rPr sz="3000" b="1" i="0">
                <a:solidFill>
                  <a:srgbClr val="18202B"/>
                </a:solidFill>
                <a:latin typeface="Cambria"/>
              </a:rPr>
              <a:t>An interactive lab teaches every step live</a:t>
            </a:r>
          </a:p>
        </p:txBody>
      </p:sp>
      <p:pic>
        <p:nvPicPr>
          <p:cNvPr id="4" name="Picture 3" descr="app_home.png"/>
          <p:cNvPicPr>
            <a:picLocks noChangeAspect="1"/>
          </p:cNvPicPr>
          <p:nvPr/>
        </p:nvPicPr>
        <p:blipFill>
          <a:blip r:embed="rId3"/>
          <a:stretch>
            <a:fillRect/>
          </a:stretch>
        </p:blipFill>
        <p:spPr>
          <a:xfrm>
            <a:off x="548640" y="1554480"/>
            <a:ext cx="6172200" cy="3857625"/>
          </a:xfrm>
          <a:prstGeom prst="rect">
            <a:avLst/>
          </a:prstGeom>
        </p:spPr>
      </p:pic>
      <p:pic>
        <p:nvPicPr>
          <p:cNvPr id="5" name="Picture 4" descr="app_search_main.png"/>
          <p:cNvPicPr>
            <a:picLocks noChangeAspect="1"/>
          </p:cNvPicPr>
          <p:nvPr/>
        </p:nvPicPr>
        <p:blipFill>
          <a:blip r:embed="rId4"/>
          <a:stretch>
            <a:fillRect/>
          </a:stretch>
        </p:blipFill>
        <p:spPr>
          <a:xfrm>
            <a:off x="6903720" y="1554480"/>
            <a:ext cx="4739335" cy="3808394"/>
          </a:xfrm>
          <a:prstGeom prst="rect">
            <a:avLst/>
          </a:prstGeom>
        </p:spPr>
      </p:pic>
      <p:sp>
        <p:nvSpPr>
          <p:cNvPr id="6" name="TextBox 5"/>
          <p:cNvSpPr txBox="1"/>
          <p:nvPr/>
        </p:nvSpPr>
        <p:spPr>
          <a:xfrm>
            <a:off x="548640" y="5897880"/>
            <a:ext cx="11094415" cy="457200"/>
          </a:xfrm>
          <a:prstGeom prst="rect">
            <a:avLst/>
          </a:prstGeom>
          <a:noFill/>
        </p:spPr>
        <p:txBody>
          <a:bodyPr wrap="square" lIns="18288" tIns="18288" rIns="18288" bIns="18288" anchor="t">
            <a:spAutoFit/>
          </a:bodyPr>
          <a:lstStyle/>
          <a:p>
            <a:pPr algn="l">
              <a:lnSpc>
                <a:spcPct val="112000"/>
              </a:lnSpc>
              <a:spcAft>
                <a:spcPts val="600"/>
              </a:spcAft>
            </a:pPr>
            <a:r>
              <a:rPr sz="1400" b="0" i="0">
                <a:solidFill>
                  <a:srgbClr val="0F7A80"/>
                </a:solidFill>
                <a:latin typeface="Consolas"/>
              </a:rPr>
              <a:t>streamlit run app.py</a:t>
            </a:r>
            <a:r>
              <a:rPr sz="1400" b="0" i="0">
                <a:solidFill>
                  <a:srgbClr val="4D5766"/>
                </a:solidFill>
                <a:latin typeface="Calibri"/>
              </a:rPr>
              <a:t>   Seven chapters with live charts, worked examples, a quiz in each, your own documents, and a formula sheet.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728655" y="6400800"/>
            <a:ext cx="914400" cy="274320"/>
          </a:xfrm>
          <a:prstGeom prst="rect">
            <a:avLst/>
          </a:prstGeom>
          <a:noFill/>
        </p:spPr>
        <p:txBody>
          <a:bodyPr wrap="square" lIns="18288" tIns="18288" rIns="18288" bIns="18288" anchor="t">
            <a:spAutoFit/>
          </a:bodyPr>
          <a:lstStyle/>
          <a:p>
            <a:pPr algn="r">
              <a:lnSpc>
                <a:spcPct val="112000"/>
              </a:lnSpc>
              <a:spcAft>
                <a:spcPts val="600"/>
              </a:spcAft>
            </a:pPr>
            <a:r>
              <a:rPr sz="1100" b="0" i="0">
                <a:solidFill>
                  <a:srgbClr val="7A8494"/>
                </a:solidFill>
                <a:latin typeface="Calibri"/>
              </a:rPr>
              <a:t>17</a:t>
            </a:r>
          </a:p>
        </p:txBody>
      </p:sp>
      <p:sp>
        <p:nvSpPr>
          <p:cNvPr id="3" name="TextBox 2"/>
          <p:cNvSpPr txBox="1"/>
          <p:nvPr/>
        </p:nvSpPr>
        <p:spPr>
          <a:xfrm>
            <a:off x="548640" y="411480"/>
            <a:ext cx="11094415" cy="1051560"/>
          </a:xfrm>
          <a:prstGeom prst="rect">
            <a:avLst/>
          </a:prstGeom>
          <a:noFill/>
        </p:spPr>
        <p:txBody>
          <a:bodyPr wrap="square" lIns="18288" tIns="18288" rIns="18288" bIns="18288" anchor="t">
            <a:spAutoFit/>
          </a:bodyPr>
          <a:lstStyle/>
          <a:p>
            <a:pPr algn="l">
              <a:lnSpc>
                <a:spcPct val="100000"/>
              </a:lnSpc>
              <a:spcAft>
                <a:spcPts val="600"/>
              </a:spcAft>
            </a:pPr>
            <a:r>
              <a:rPr sz="3000" b="1" i="0">
                <a:solidFill>
                  <a:srgbClr val="18202B"/>
                </a:solidFill>
                <a:latin typeface="Cambria"/>
              </a:rPr>
              <a:t>What we learned, and where LSA stops working</a:t>
            </a:r>
          </a:p>
        </p:txBody>
      </p:sp>
      <p:pic>
        <p:nvPicPr>
          <p:cNvPr id="4" name="Picture 3" descr="spectra.png"/>
          <p:cNvPicPr>
            <a:picLocks noChangeAspect="1"/>
          </p:cNvPicPr>
          <p:nvPr/>
        </p:nvPicPr>
        <p:blipFill>
          <a:blip r:embed="rId3"/>
          <a:stretch>
            <a:fillRect/>
          </a:stretch>
        </p:blipFill>
        <p:spPr>
          <a:xfrm>
            <a:off x="548640" y="1600200"/>
            <a:ext cx="5594831" cy="3200400"/>
          </a:xfrm>
          <a:prstGeom prst="rect">
            <a:avLst/>
          </a:prstGeom>
        </p:spPr>
      </p:pic>
      <p:sp>
        <p:nvSpPr>
          <p:cNvPr id="5" name="TextBox 4"/>
          <p:cNvSpPr txBox="1"/>
          <p:nvPr/>
        </p:nvSpPr>
        <p:spPr>
          <a:xfrm>
            <a:off x="548640" y="4937760"/>
            <a:ext cx="5669280" cy="1280160"/>
          </a:xfrm>
          <a:prstGeom prst="rect">
            <a:avLst/>
          </a:prstGeom>
          <a:noFill/>
        </p:spPr>
        <p:txBody>
          <a:bodyPr wrap="square" lIns="18288" tIns="18288" rIns="18288" bIns="18288" anchor="t">
            <a:spAutoFit/>
          </a:bodyPr>
          <a:lstStyle/>
          <a:p>
            <a:pPr algn="l">
              <a:lnSpc>
                <a:spcPct val="112000"/>
              </a:lnSpc>
              <a:spcAft>
                <a:spcPts val="600"/>
              </a:spcAft>
            </a:pPr>
            <a:r>
              <a:rPr sz="1400" b="1" i="0">
                <a:solidFill>
                  <a:srgbClr val="18202B"/>
                </a:solidFill>
                <a:latin typeface="Calibri"/>
              </a:rPr>
              <a:t>Our first version used 24 one-sentence blurbs. </a:t>
            </a:r>
            <a:r>
              <a:rPr sz="1400" b="0" i="0">
                <a:solidFill>
                  <a:srgbClr val="4D5766"/>
                </a:solidFill>
                <a:latin typeface="Calibri"/>
              </a:rPr>
              <a:t>They share almost no words, so the spectrum is flat: 4 concepts kept only 22% of the energy. LSA needs shared vocabulary.</a:t>
            </a:r>
          </a:p>
        </p:txBody>
      </p:sp>
      <p:sp>
        <p:nvSpPr>
          <p:cNvPr id="6" name="TextBox 5"/>
          <p:cNvSpPr txBox="1"/>
          <p:nvPr/>
        </p:nvSpPr>
        <p:spPr>
          <a:xfrm>
            <a:off x="6766560" y="1600200"/>
            <a:ext cx="4876495" cy="365760"/>
          </a:xfrm>
          <a:prstGeom prst="rect">
            <a:avLst/>
          </a:prstGeom>
          <a:noFill/>
        </p:spPr>
        <p:txBody>
          <a:bodyPr wrap="square" lIns="18288" tIns="18288" rIns="18288" bIns="18288" anchor="t">
            <a:spAutoFit/>
          </a:bodyPr>
          <a:lstStyle/>
          <a:p>
            <a:pPr algn="l">
              <a:lnSpc>
                <a:spcPct val="112000"/>
              </a:lnSpc>
              <a:spcAft>
                <a:spcPts val="600"/>
              </a:spcAft>
            </a:pPr>
            <a:r>
              <a:rPr sz="1900" b="1" i="0">
                <a:solidFill>
                  <a:srgbClr val="18202B"/>
                </a:solidFill>
                <a:latin typeface="Cambria"/>
              </a:rPr>
              <a:t>Limitations</a:t>
            </a:r>
          </a:p>
        </p:txBody>
      </p:sp>
      <p:sp>
        <p:nvSpPr>
          <p:cNvPr id="7" name="TextBox 6"/>
          <p:cNvSpPr txBox="1"/>
          <p:nvPr/>
        </p:nvSpPr>
        <p:spPr>
          <a:xfrm>
            <a:off x="6766560" y="2103120"/>
            <a:ext cx="4876495" cy="4023360"/>
          </a:xfrm>
          <a:prstGeom prst="rect">
            <a:avLst/>
          </a:prstGeom>
          <a:noFill/>
        </p:spPr>
        <p:txBody>
          <a:bodyPr wrap="square" lIns="18288" tIns="18288" rIns="18288" bIns="18288" anchor="t">
            <a:spAutoFit/>
          </a:bodyPr>
          <a:lstStyle/>
          <a:p>
            <a:pPr marL="256032" indent="-201168" algn="l">
              <a:lnSpc>
                <a:spcPct val="112000"/>
              </a:lnSpc>
              <a:spcAft>
                <a:spcPts val="900"/>
              </a:spcAft>
              <a:buChar char="•"/>
            </a:pPr>
            <a:r>
              <a:rPr sz="1500" b="1" i="0">
                <a:solidFill>
                  <a:srgbClr val="18202B"/>
                </a:solidFill>
                <a:latin typeface="Calibri"/>
              </a:rPr>
              <a:t>Bag of words. </a:t>
            </a:r>
            <a:r>
              <a:rPr sz="1500" b="0" i="0">
                <a:solidFill>
                  <a:srgbClr val="4D5766"/>
                </a:solidFill>
                <a:latin typeface="Calibri"/>
              </a:rPr>
              <a:t>Order and negation are lost: “not good” looks like “good”.</a:t>
            </a:r>
          </a:p>
          <a:p>
            <a:pPr marL="256032" indent="-201168" algn="l">
              <a:lnSpc>
                <a:spcPct val="112000"/>
              </a:lnSpc>
              <a:spcAft>
                <a:spcPts val="900"/>
              </a:spcAft>
              <a:buChar char="•"/>
            </a:pPr>
            <a:r>
              <a:rPr sz="1500" b="1" i="0">
                <a:solidFill>
                  <a:srgbClr val="18202B"/>
                </a:solidFill>
                <a:latin typeface="Calibri"/>
              </a:rPr>
              <a:t>Hard to interpret. </a:t>
            </a:r>
            <a:r>
              <a:rPr sz="1500" b="0" i="0">
                <a:solidFill>
                  <a:srgbClr val="4D5766"/>
                </a:solidFill>
                <a:latin typeface="Calibri"/>
              </a:rPr>
              <a:t>Concepts have negative weights, unlike the probabilities of LDA or the parts of NMF.</a:t>
            </a:r>
          </a:p>
          <a:p>
            <a:pPr marL="256032" indent="-201168" algn="l">
              <a:lnSpc>
                <a:spcPct val="112000"/>
              </a:lnSpc>
              <a:spcAft>
                <a:spcPts val="900"/>
              </a:spcAft>
              <a:buChar char="•"/>
            </a:pPr>
            <a:r>
              <a:rPr sz="1500" b="1" i="0">
                <a:solidFill>
                  <a:srgbClr val="18202B"/>
                </a:solidFill>
                <a:latin typeface="Calibri"/>
              </a:rPr>
              <a:t>One vector per word. </a:t>
            </a:r>
            <a:r>
              <a:rPr sz="1500" b="0" i="0">
                <a:solidFill>
                  <a:srgbClr val="4D5766"/>
                </a:solidFill>
                <a:latin typeface="Calibri"/>
              </a:rPr>
              <a:t>Polysemy is only averaged: “bank” gets one position.</a:t>
            </a:r>
          </a:p>
          <a:p>
            <a:pPr marL="256032" indent="-201168" algn="l">
              <a:lnSpc>
                <a:spcPct val="112000"/>
              </a:lnSpc>
              <a:spcAft>
                <a:spcPts val="900"/>
              </a:spcAft>
              <a:buChar char="•"/>
            </a:pPr>
            <a:r>
              <a:rPr sz="1500" b="1" i="0">
                <a:solidFill>
                  <a:srgbClr val="18202B"/>
                </a:solidFill>
                <a:latin typeface="Calibri"/>
              </a:rPr>
              <a:t>Frozen vocabulary. </a:t>
            </a:r>
            <a:r>
              <a:rPr sz="1500" b="0" i="0">
                <a:solidFill>
                  <a:srgbClr val="4D5766"/>
                </a:solidFill>
                <a:latin typeface="Calibri"/>
              </a:rPr>
              <a:t>New words and topics need a new SVD.</a:t>
            </a:r>
          </a:p>
          <a:p>
            <a:pPr marL="256032" indent="-201168" algn="l">
              <a:lnSpc>
                <a:spcPct val="112000"/>
              </a:lnSpc>
              <a:spcAft>
                <a:spcPts val="900"/>
              </a:spcAft>
              <a:buChar char="•"/>
            </a:pPr>
            <a:r>
              <a:rPr sz="1500" b="1" i="0">
                <a:solidFill>
                  <a:srgbClr val="18202B"/>
                </a:solidFill>
                <a:latin typeface="Calibri"/>
              </a:rPr>
              <a:t>Cost. </a:t>
            </a:r>
            <a:r>
              <a:rPr sz="1500" b="0" i="0">
                <a:solidFill>
                  <a:srgbClr val="4D5766"/>
                </a:solidFill>
                <a:latin typeface="Calibri"/>
              </a:rPr>
              <a:t>A full SVD is O(mn·min(m, n)); large collections need truncated or randomised SVD.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43038"/>
        </a:solidFill>
        <a:effectLst/>
      </p:bgPr>
    </p:bg>
    <p:spTree>
      <p:nvGrpSpPr>
        <p:cNvPr id="1" name=""/>
        <p:cNvGrpSpPr/>
        <p:nvPr/>
      </p:nvGrpSpPr>
      <p:grpSpPr>
        <a:xfrm>
          <a:off x="0" y="0"/>
          <a:ext cx="0" cy="0"/>
          <a:chOff x="0" y="0"/>
          <a:chExt cx="0" cy="0"/>
        </a:xfrm>
      </p:grpSpPr>
      <p:sp>
        <p:nvSpPr>
          <p:cNvPr id="2" name="TextBox 1"/>
          <p:cNvSpPr txBox="1"/>
          <p:nvPr/>
        </p:nvSpPr>
        <p:spPr>
          <a:xfrm>
            <a:off x="548640" y="640080"/>
            <a:ext cx="11094415" cy="914400"/>
          </a:xfrm>
          <a:prstGeom prst="rect">
            <a:avLst/>
          </a:prstGeom>
          <a:noFill/>
        </p:spPr>
        <p:txBody>
          <a:bodyPr wrap="square" lIns="18288" tIns="18288" rIns="18288" bIns="18288" anchor="t">
            <a:spAutoFit/>
          </a:bodyPr>
          <a:lstStyle/>
          <a:p>
            <a:pPr algn="l">
              <a:lnSpc>
                <a:spcPct val="112000"/>
              </a:lnSpc>
              <a:spcAft>
                <a:spcPts val="600"/>
              </a:spcAft>
            </a:pPr>
            <a:r>
              <a:rPr sz="4000" b="1" i="0">
                <a:solidFill>
                  <a:srgbClr val="FFFFFF"/>
                </a:solidFill>
                <a:latin typeface="Cambria"/>
              </a:rPr>
              <a:t>Three things to remember</a:t>
            </a:r>
          </a:p>
        </p:txBody>
      </p:sp>
      <p:sp>
        <p:nvSpPr>
          <p:cNvPr id="3" name="Rectangle 2"/>
          <p:cNvSpPr/>
          <p:nvPr/>
        </p:nvSpPr>
        <p:spPr>
          <a:xfrm>
            <a:off x="548640" y="1947672"/>
            <a:ext cx="292608" cy="292608"/>
          </a:xfrm>
          <a:prstGeom prst="rect">
            <a:avLst/>
          </a:prstGeom>
          <a:solidFill>
            <a:srgbClr val="0F7A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 name="TextBox 3"/>
          <p:cNvSpPr txBox="1"/>
          <p:nvPr/>
        </p:nvSpPr>
        <p:spPr>
          <a:xfrm>
            <a:off x="1097280" y="1874519"/>
            <a:ext cx="10424160" cy="1188720"/>
          </a:xfrm>
          <a:prstGeom prst="rect">
            <a:avLst/>
          </a:prstGeom>
          <a:noFill/>
        </p:spPr>
        <p:txBody>
          <a:bodyPr wrap="square" lIns="18288" tIns="18288" rIns="18288" bIns="18288" anchor="t">
            <a:spAutoFit/>
          </a:bodyPr>
          <a:lstStyle/>
          <a:p>
            <a:pPr algn="l">
              <a:lnSpc>
                <a:spcPct val="112000"/>
              </a:lnSpc>
              <a:spcAft>
                <a:spcPts val="400"/>
              </a:spcAft>
            </a:pPr>
            <a:r>
              <a:rPr sz="2200" b="1" i="0">
                <a:solidFill>
                  <a:srgbClr val="FFFFFF"/>
                </a:solidFill>
                <a:latin typeface="Cambria"/>
              </a:rPr>
              <a:t>The SVD finds concepts. </a:t>
            </a:r>
          </a:p>
          <a:p>
            <a:pPr algn="l">
              <a:lnSpc>
                <a:spcPct val="112000"/>
              </a:lnSpc>
              <a:spcAft>
                <a:spcPts val="400"/>
              </a:spcAft>
            </a:pPr>
            <a:r>
              <a:rPr sz="1700" b="0" i="0">
                <a:solidFill>
                  <a:srgbClr val="D9E6E8"/>
                </a:solidFill>
                <a:latin typeface="Calibri"/>
              </a:rPr>
              <a:t>A = UΣVᵀ turns word co-occurrence into orthogonal concepts: U for words, V for documents, Σ for strength.</a:t>
            </a:r>
          </a:p>
        </p:txBody>
      </p:sp>
      <p:sp>
        <p:nvSpPr>
          <p:cNvPr id="5" name="Rectangle 4"/>
          <p:cNvSpPr/>
          <p:nvPr/>
        </p:nvSpPr>
        <p:spPr>
          <a:xfrm>
            <a:off x="548640" y="3273552"/>
            <a:ext cx="292608" cy="292608"/>
          </a:xfrm>
          <a:prstGeom prst="rect">
            <a:avLst/>
          </a:prstGeom>
          <a:solidFill>
            <a:srgbClr val="B07A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 name="TextBox 5"/>
          <p:cNvSpPr txBox="1"/>
          <p:nvPr/>
        </p:nvSpPr>
        <p:spPr>
          <a:xfrm>
            <a:off x="1097280" y="3200400"/>
            <a:ext cx="10424160" cy="1188720"/>
          </a:xfrm>
          <a:prstGeom prst="rect">
            <a:avLst/>
          </a:prstGeom>
          <a:noFill/>
        </p:spPr>
        <p:txBody>
          <a:bodyPr wrap="square" lIns="18288" tIns="18288" rIns="18288" bIns="18288" anchor="t">
            <a:spAutoFit/>
          </a:bodyPr>
          <a:lstStyle/>
          <a:p>
            <a:pPr algn="l">
              <a:lnSpc>
                <a:spcPct val="112000"/>
              </a:lnSpc>
              <a:spcAft>
                <a:spcPts val="400"/>
              </a:spcAft>
            </a:pPr>
            <a:r>
              <a:rPr sz="2200" b="1" i="0">
                <a:solidFill>
                  <a:srgbClr val="FFFFFF"/>
                </a:solidFill>
                <a:latin typeface="Cambria"/>
              </a:rPr>
              <a:t>Truncation is the point. </a:t>
            </a:r>
          </a:p>
          <a:p>
            <a:pPr algn="l">
              <a:lnSpc>
                <a:spcPct val="112000"/>
              </a:lnSpc>
              <a:spcAft>
                <a:spcPts val="400"/>
              </a:spcAft>
            </a:pPr>
            <a:r>
              <a:rPr sz="1700" b="0" i="0">
                <a:solidFill>
                  <a:srgbClr val="D9E6E8"/>
                </a:solidFill>
                <a:latin typeface="Calibri"/>
              </a:rPr>
              <a:t>Eckart–Young makes the truncated SVD the best rank-k summary. On news, k = 5 keeps 5% of the energy and gives the best clusters.</a:t>
            </a:r>
          </a:p>
        </p:txBody>
      </p:sp>
      <p:sp>
        <p:nvSpPr>
          <p:cNvPr id="7" name="Rectangle 6"/>
          <p:cNvSpPr/>
          <p:nvPr/>
        </p:nvSpPr>
        <p:spPr>
          <a:xfrm>
            <a:off x="548640" y="4599431"/>
            <a:ext cx="292608" cy="292608"/>
          </a:xfrm>
          <a:prstGeom prst="rect">
            <a:avLst/>
          </a:prstGeom>
          <a:solidFill>
            <a:srgbClr val="6A4FC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1097280" y="4526279"/>
            <a:ext cx="10424160" cy="1188720"/>
          </a:xfrm>
          <a:prstGeom prst="rect">
            <a:avLst/>
          </a:prstGeom>
          <a:noFill/>
        </p:spPr>
        <p:txBody>
          <a:bodyPr wrap="square" lIns="18288" tIns="18288" rIns="18288" bIns="18288" anchor="t">
            <a:spAutoFit/>
          </a:bodyPr>
          <a:lstStyle/>
          <a:p>
            <a:pPr algn="l">
              <a:lnSpc>
                <a:spcPct val="112000"/>
              </a:lnSpc>
              <a:spcAft>
                <a:spcPts val="400"/>
              </a:spcAft>
            </a:pPr>
            <a:r>
              <a:rPr sz="2200" b="1" i="0">
                <a:solidFill>
                  <a:srgbClr val="FFFFFF"/>
                </a:solidFill>
                <a:latin typeface="Cambria"/>
              </a:rPr>
              <a:t>Concepts beat words. </a:t>
            </a:r>
          </a:p>
          <a:p>
            <a:pPr algn="l">
              <a:lnSpc>
                <a:spcPct val="112000"/>
              </a:lnSpc>
              <a:spcAft>
                <a:spcPts val="400"/>
              </a:spcAft>
            </a:pPr>
            <a:r>
              <a:rPr sz="1700" b="0" i="0">
                <a:solidFill>
                  <a:srgbClr val="D9E6E8"/>
                </a:solidFill>
                <a:latin typeface="Calibri"/>
              </a:rPr>
              <a:t>Clustering agreement rises from ARI 0.07 to 0.54, and search finds articles that share no words with the query.</a:t>
            </a:r>
          </a:p>
        </p:txBody>
      </p:sp>
      <p:sp>
        <p:nvSpPr>
          <p:cNvPr id="9" name="TextBox 8"/>
          <p:cNvSpPr txBox="1"/>
          <p:nvPr/>
        </p:nvSpPr>
        <p:spPr>
          <a:xfrm>
            <a:off x="548640" y="5806440"/>
            <a:ext cx="6400800" cy="457200"/>
          </a:xfrm>
          <a:prstGeom prst="rect">
            <a:avLst/>
          </a:prstGeom>
          <a:noFill/>
        </p:spPr>
        <p:txBody>
          <a:bodyPr wrap="square" lIns="18288" tIns="18288" rIns="18288" bIns="18288" anchor="t">
            <a:spAutoFit/>
          </a:bodyPr>
          <a:lstStyle/>
          <a:p>
            <a:pPr algn="l">
              <a:lnSpc>
                <a:spcPct val="112000"/>
              </a:lnSpc>
              <a:spcAft>
                <a:spcPts val="600"/>
              </a:spcAft>
            </a:pPr>
            <a:r>
              <a:rPr sz="2400" b="1" i="0">
                <a:solidFill>
                  <a:srgbClr val="FFFFFF"/>
                </a:solidFill>
                <a:latin typeface="Cambria"/>
              </a:rPr>
              <a:t>Questions?</a:t>
            </a:r>
          </a:p>
        </p:txBody>
      </p:sp>
      <p:sp>
        <p:nvSpPr>
          <p:cNvPr id="10" name="TextBox 9"/>
          <p:cNvSpPr txBox="1"/>
          <p:nvPr/>
        </p:nvSpPr>
        <p:spPr>
          <a:xfrm>
            <a:off x="5852160" y="5870448"/>
            <a:ext cx="5790895" cy="457200"/>
          </a:xfrm>
          <a:prstGeom prst="rect">
            <a:avLst/>
          </a:prstGeom>
          <a:noFill/>
        </p:spPr>
        <p:txBody>
          <a:bodyPr wrap="square" lIns="18288" tIns="18288" rIns="18288" bIns="18288" anchor="t">
            <a:spAutoFit/>
          </a:bodyPr>
          <a:lstStyle/>
          <a:p>
            <a:pPr algn="r">
              <a:lnSpc>
                <a:spcPct val="112000"/>
              </a:lnSpc>
              <a:spcAft>
                <a:spcPts val="600"/>
              </a:spcAft>
            </a:pPr>
            <a:r>
              <a:rPr sz="1500" b="0" i="0">
                <a:solidFill>
                  <a:srgbClr val="9FC7C9"/>
                </a:solidFill>
                <a:latin typeface="Calibri"/>
              </a:rPr>
              <a:t>Run it:  python main.py 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3814</Words>
  <Application>Microsoft Office PowerPoint</Application>
  <PresentationFormat>Widescreen</PresentationFormat>
  <Paragraphs>251</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Sreevatshan S</cp:lastModifiedBy>
  <cp:revision>3</cp:revision>
  <dcterms:created xsi:type="dcterms:W3CDTF">2013-01-27T09:14:16Z</dcterms:created>
  <dcterms:modified xsi:type="dcterms:W3CDTF">2026-10-13T17:44:56Z</dcterms:modified>
  <cp:category/>
</cp:coreProperties>
</file>